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Lato" panose="020F0502020204030203"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p:scale>
          <a:sx n="80" d="100"/>
          <a:sy n="80" d="100"/>
        </p:scale>
        <p:origin x="648"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E:\dekstop\Upgrad-BA\Saas%20project\Insights%20Data%20forma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dekstop\Upgrad-BA\Saas%20project\Insights%20Data%20forma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dekstop\Upgrad-BA\Saas%20project\Insights%20Data%20forma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dekstop\Upgrad-BA\Saas%20project\Insights%20Data%20forma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dekstop\Upgrad-BA\Saas%20project\Insights%20Data%20format.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Conversion Rate by Technology Primary</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1-215F-442C-A7F3-DEF6831FA5B2}"/>
              </c:ext>
            </c:extLst>
          </c:dPt>
          <c:dPt>
            <c:idx val="2"/>
            <c:invertIfNegative val="0"/>
            <c:bubble3D val="0"/>
            <c:spPr>
              <a:solidFill>
                <a:srgbClr val="FF0000"/>
              </a:solidFill>
              <a:ln>
                <a:noFill/>
              </a:ln>
              <a:effectLst/>
            </c:spPr>
            <c:extLst>
              <c:ext xmlns:c16="http://schemas.microsoft.com/office/drawing/2014/chart" uri="{C3380CC4-5D6E-409C-BE32-E72D297353CC}">
                <c16:uniqueId val="{00000003-215F-442C-A7F3-DEF6831FA5B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'Technology Primary'!$A$15:$A$18</c:f>
              <c:strCache>
                <c:ptCount val="4"/>
                <c:pt idx="0">
                  <c:v>Analytics</c:v>
                </c:pt>
                <c:pt idx="1">
                  <c:v>ERP Implementation</c:v>
                </c:pt>
                <c:pt idx="2">
                  <c:v>Legacy Modernization</c:v>
                </c:pt>
                <c:pt idx="3">
                  <c:v>Technical Business Solutions</c:v>
                </c:pt>
              </c:strCache>
            </c:strRef>
          </c:cat>
          <c:val>
            <c:numRef>
              <c:f>'Technology Primary'!$E$15:$E$18</c:f>
              <c:numCache>
                <c:formatCode>0%</c:formatCode>
                <c:ptCount val="4"/>
                <c:pt idx="0">
                  <c:v>0.26334519572953735</c:v>
                </c:pt>
                <c:pt idx="1">
                  <c:v>0.23346717526601085</c:v>
                </c:pt>
                <c:pt idx="2">
                  <c:v>0.12151067323481117</c:v>
                </c:pt>
                <c:pt idx="3">
                  <c:v>0.21408966148215919</c:v>
                </c:pt>
              </c:numCache>
            </c:numRef>
          </c:val>
          <c:extLst>
            <c:ext xmlns:c16="http://schemas.microsoft.com/office/drawing/2014/chart" uri="{C3380CC4-5D6E-409C-BE32-E72D297353CC}">
              <c16:uniqueId val="{00000004-215F-442C-A7F3-DEF6831FA5B2}"/>
            </c:ext>
          </c:extLst>
        </c:ser>
        <c:dLbls>
          <c:showLegendKey val="0"/>
          <c:showVal val="0"/>
          <c:showCatName val="0"/>
          <c:showSerName val="0"/>
          <c:showPercent val="0"/>
          <c:showBubbleSize val="0"/>
        </c:dLbls>
        <c:gapWidth val="182"/>
        <c:axId val="20798639"/>
        <c:axId val="20802799"/>
      </c:barChart>
      <c:catAx>
        <c:axId val="2079863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02799"/>
        <c:crosses val="autoZero"/>
        <c:auto val="1"/>
        <c:lblAlgn val="ctr"/>
        <c:lblOffset val="100"/>
        <c:noMultiLvlLbl val="0"/>
      </c:catAx>
      <c:valAx>
        <c:axId val="20802799"/>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9863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Conversion Rate by B2B Sales Medium</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1-8885-437F-B874-0A33E8821C70}"/>
              </c:ext>
            </c:extLst>
          </c:dPt>
          <c:dPt>
            <c:idx val="2"/>
            <c:invertIfNegative val="0"/>
            <c:bubble3D val="0"/>
            <c:spPr>
              <a:solidFill>
                <a:srgbClr val="FF0000"/>
              </a:solidFill>
              <a:ln>
                <a:noFill/>
              </a:ln>
              <a:effectLst/>
            </c:spPr>
            <c:extLst>
              <c:ext xmlns:c16="http://schemas.microsoft.com/office/drawing/2014/chart" uri="{C3380CC4-5D6E-409C-BE32-E72D297353CC}">
                <c16:uniqueId val="{00000003-8885-437F-B874-0A33E8821C7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'B2B Sales Medium'!$A$17:$A$21</c:f>
              <c:strCache>
                <c:ptCount val="5"/>
                <c:pt idx="0">
                  <c:v>Enterprise Sellers</c:v>
                </c:pt>
                <c:pt idx="1">
                  <c:v>Marketing</c:v>
                </c:pt>
                <c:pt idx="2">
                  <c:v>Online Leads</c:v>
                </c:pt>
                <c:pt idx="3">
                  <c:v>Partners</c:v>
                </c:pt>
                <c:pt idx="4">
                  <c:v>Tele Sales</c:v>
                </c:pt>
              </c:strCache>
            </c:strRef>
          </c:cat>
          <c:val>
            <c:numRef>
              <c:f>'B2B Sales Medium'!$E$17:$E$21</c:f>
              <c:numCache>
                <c:formatCode>0%</c:formatCode>
                <c:ptCount val="5"/>
                <c:pt idx="0">
                  <c:v>0.27573508257091894</c:v>
                </c:pt>
                <c:pt idx="1">
                  <c:v>0.18571198540067629</c:v>
                </c:pt>
                <c:pt idx="2">
                  <c:v>6.4620355411954766E-2</c:v>
                </c:pt>
                <c:pt idx="3">
                  <c:v>0.18522408963585435</c:v>
                </c:pt>
                <c:pt idx="4">
                  <c:v>0.21897233201581029</c:v>
                </c:pt>
              </c:numCache>
            </c:numRef>
          </c:val>
          <c:extLst>
            <c:ext xmlns:c16="http://schemas.microsoft.com/office/drawing/2014/chart" uri="{C3380CC4-5D6E-409C-BE32-E72D297353CC}">
              <c16:uniqueId val="{00000004-8885-437F-B874-0A33E8821C70}"/>
            </c:ext>
          </c:extLst>
        </c:ser>
        <c:dLbls>
          <c:showLegendKey val="0"/>
          <c:showVal val="0"/>
          <c:showCatName val="0"/>
          <c:showSerName val="0"/>
          <c:showPercent val="0"/>
          <c:showBubbleSize val="0"/>
        </c:dLbls>
        <c:gapWidth val="182"/>
        <c:axId val="2039161199"/>
        <c:axId val="2039166607"/>
      </c:barChart>
      <c:catAx>
        <c:axId val="20391611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9166607"/>
        <c:crosses val="autoZero"/>
        <c:auto val="1"/>
        <c:lblAlgn val="ctr"/>
        <c:lblOffset val="100"/>
        <c:noMultiLvlLbl val="0"/>
      </c:catAx>
      <c:valAx>
        <c:axId val="2039166607"/>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91611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effectLst/>
              </a:rPr>
              <a:t>Conversion Rate by </a:t>
            </a:r>
            <a:r>
              <a:rPr lang="en-US"/>
              <a:t>Client Revenue Sizing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1-4744-442E-BB64-CD6864AEB3B1}"/>
              </c:ext>
            </c:extLst>
          </c:dPt>
          <c:dPt>
            <c:idx val="1"/>
            <c:invertIfNegative val="0"/>
            <c:bubble3D val="0"/>
            <c:spPr>
              <a:solidFill>
                <a:srgbClr val="00B050"/>
              </a:solidFill>
              <a:ln>
                <a:noFill/>
              </a:ln>
              <a:effectLst/>
            </c:spPr>
            <c:extLst>
              <c:ext xmlns:c16="http://schemas.microsoft.com/office/drawing/2014/chart" uri="{C3380CC4-5D6E-409C-BE32-E72D297353CC}">
                <c16:uniqueId val="{00000003-4744-442E-BB64-CD6864AEB3B1}"/>
              </c:ext>
            </c:extLst>
          </c:dPt>
          <c:dPt>
            <c:idx val="2"/>
            <c:invertIfNegative val="0"/>
            <c:bubble3D val="0"/>
            <c:spPr>
              <a:solidFill>
                <a:srgbClr val="00B050"/>
              </a:solidFill>
              <a:ln>
                <a:noFill/>
              </a:ln>
              <a:effectLst/>
            </c:spPr>
            <c:extLst>
              <c:ext xmlns:c16="http://schemas.microsoft.com/office/drawing/2014/chart" uri="{C3380CC4-5D6E-409C-BE32-E72D297353CC}">
                <c16:uniqueId val="{00000005-4744-442E-BB64-CD6864AEB3B1}"/>
              </c:ext>
            </c:extLst>
          </c:dPt>
          <c:dPt>
            <c:idx val="4"/>
            <c:invertIfNegative val="0"/>
            <c:bubble3D val="0"/>
            <c:spPr>
              <a:solidFill>
                <a:srgbClr val="FF0000"/>
              </a:solidFill>
              <a:ln>
                <a:noFill/>
              </a:ln>
              <a:effectLst/>
            </c:spPr>
            <c:extLst>
              <c:ext xmlns:c16="http://schemas.microsoft.com/office/drawing/2014/chart" uri="{C3380CC4-5D6E-409C-BE32-E72D297353CC}">
                <c16:uniqueId val="{00000007-4744-442E-BB64-CD6864AEB3B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 Client Revenue Sizing'!$A$16:$A$20</c:f>
              <c:strCache>
                <c:ptCount val="5"/>
                <c:pt idx="0">
                  <c:v>100K or less</c:v>
                </c:pt>
                <c:pt idx="1">
                  <c:v>100K to 250K</c:v>
                </c:pt>
                <c:pt idx="2">
                  <c:v>250K to 500K</c:v>
                </c:pt>
                <c:pt idx="3">
                  <c:v>500K to 1M</c:v>
                </c:pt>
                <c:pt idx="4">
                  <c:v>More than 1M</c:v>
                </c:pt>
              </c:strCache>
            </c:strRef>
          </c:cat>
          <c:val>
            <c:numRef>
              <c:f>' Client Revenue Sizing'!$E$16:$E$20</c:f>
              <c:numCache>
                <c:formatCode>0%</c:formatCode>
                <c:ptCount val="5"/>
                <c:pt idx="0">
                  <c:v>0.22874092497983328</c:v>
                </c:pt>
                <c:pt idx="1">
                  <c:v>0.22754491017964071</c:v>
                </c:pt>
                <c:pt idx="2">
                  <c:v>0.22771236333052985</c:v>
                </c:pt>
                <c:pt idx="3">
                  <c:v>0.22389991371872303</c:v>
                </c:pt>
                <c:pt idx="4">
                  <c:v>0.1930786686838124</c:v>
                </c:pt>
              </c:numCache>
            </c:numRef>
          </c:val>
          <c:extLst>
            <c:ext xmlns:c16="http://schemas.microsoft.com/office/drawing/2014/chart" uri="{C3380CC4-5D6E-409C-BE32-E72D297353CC}">
              <c16:uniqueId val="{00000008-4744-442E-BB64-CD6864AEB3B1}"/>
            </c:ext>
          </c:extLst>
        </c:ser>
        <c:dLbls>
          <c:showLegendKey val="0"/>
          <c:showVal val="0"/>
          <c:showCatName val="0"/>
          <c:showSerName val="0"/>
          <c:showPercent val="0"/>
          <c:showBubbleSize val="0"/>
        </c:dLbls>
        <c:gapWidth val="182"/>
        <c:axId val="2107891375"/>
        <c:axId val="2107872239"/>
      </c:barChart>
      <c:catAx>
        <c:axId val="210789137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7872239"/>
        <c:crosses val="autoZero"/>
        <c:auto val="1"/>
        <c:lblAlgn val="ctr"/>
        <c:lblOffset val="100"/>
        <c:noMultiLvlLbl val="0"/>
      </c:catAx>
      <c:valAx>
        <c:axId val="2107872239"/>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78913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Conversion Rate by Business from Client Last Year</a:t>
            </a:r>
            <a:endParaRPr lang="en-US">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24F8-4ACC-8FF0-4C36284A7983}"/>
              </c:ext>
            </c:extLst>
          </c:dPt>
          <c:dPt>
            <c:idx val="4"/>
            <c:invertIfNegative val="0"/>
            <c:bubble3D val="0"/>
            <c:spPr>
              <a:solidFill>
                <a:srgbClr val="00B050"/>
              </a:solidFill>
              <a:ln>
                <a:noFill/>
              </a:ln>
              <a:effectLst/>
            </c:spPr>
            <c:extLst>
              <c:ext xmlns:c16="http://schemas.microsoft.com/office/drawing/2014/chart" uri="{C3380CC4-5D6E-409C-BE32-E72D297353CC}">
                <c16:uniqueId val="{00000003-24F8-4ACC-8FF0-4C36284A798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'Business from Client Last Year'!$A$19:$A$23</c:f>
              <c:strCache>
                <c:ptCount val="5"/>
                <c:pt idx="0">
                  <c:v>0 (No business)</c:v>
                </c:pt>
                <c:pt idx="1">
                  <c:v>More than 100,000</c:v>
                </c:pt>
                <c:pt idx="2">
                  <c:v>50,000 - 100,000</c:v>
                </c:pt>
                <c:pt idx="3">
                  <c:v>25,000 - 50,000</c:v>
                </c:pt>
                <c:pt idx="4">
                  <c:v>0 - 25,000</c:v>
                </c:pt>
              </c:strCache>
            </c:strRef>
          </c:cat>
          <c:val>
            <c:numRef>
              <c:f>'Business from Client Last Year'!$E$19:$E$23</c:f>
              <c:numCache>
                <c:formatCode>0%</c:formatCode>
                <c:ptCount val="5"/>
                <c:pt idx="0">
                  <c:v>0.17323141833314068</c:v>
                </c:pt>
                <c:pt idx="1">
                  <c:v>0.46853146853146854</c:v>
                </c:pt>
                <c:pt idx="2">
                  <c:v>0.61711281070745694</c:v>
                </c:pt>
                <c:pt idx="3">
                  <c:v>0.73691790686509839</c:v>
                </c:pt>
                <c:pt idx="4">
                  <c:v>0.82603815937149272</c:v>
                </c:pt>
              </c:numCache>
            </c:numRef>
          </c:val>
          <c:extLst>
            <c:ext xmlns:c16="http://schemas.microsoft.com/office/drawing/2014/chart" uri="{C3380CC4-5D6E-409C-BE32-E72D297353CC}">
              <c16:uniqueId val="{00000004-24F8-4ACC-8FF0-4C36284A7983}"/>
            </c:ext>
          </c:extLst>
        </c:ser>
        <c:dLbls>
          <c:showLegendKey val="0"/>
          <c:showVal val="0"/>
          <c:showCatName val="0"/>
          <c:showSerName val="0"/>
          <c:showPercent val="0"/>
          <c:showBubbleSize val="0"/>
        </c:dLbls>
        <c:gapWidth val="182"/>
        <c:axId val="2107881807"/>
        <c:axId val="2107878063"/>
      </c:barChart>
      <c:catAx>
        <c:axId val="210788180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7878063"/>
        <c:crosses val="autoZero"/>
        <c:auto val="1"/>
        <c:lblAlgn val="ctr"/>
        <c:lblOffset val="100"/>
        <c:noMultiLvlLbl val="0"/>
      </c:catAx>
      <c:valAx>
        <c:axId val="2107878063"/>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78818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t>Conversion Rate by Opportunity Size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Pt>
            <c:idx val="0"/>
            <c:invertIfNegative val="0"/>
            <c:bubble3D val="0"/>
            <c:spPr>
              <a:solidFill>
                <a:srgbClr val="00B050"/>
              </a:solidFill>
              <a:ln>
                <a:noFill/>
              </a:ln>
              <a:effectLst/>
            </c:spPr>
            <c:extLst>
              <c:ext xmlns:c16="http://schemas.microsoft.com/office/drawing/2014/chart" uri="{C3380CC4-5D6E-409C-BE32-E72D297353CC}">
                <c16:uniqueId val="{00000001-671E-4FF1-B666-FAFFC66CD10C}"/>
              </c:ext>
            </c:extLst>
          </c:dPt>
          <c:dPt>
            <c:idx val="4"/>
            <c:invertIfNegative val="0"/>
            <c:bubble3D val="0"/>
            <c:spPr>
              <a:solidFill>
                <a:srgbClr val="FF0000"/>
              </a:solidFill>
              <a:ln>
                <a:noFill/>
              </a:ln>
              <a:effectLst/>
            </c:spPr>
            <c:extLst>
              <c:ext xmlns:c16="http://schemas.microsoft.com/office/drawing/2014/chart" uri="{C3380CC4-5D6E-409C-BE32-E72D297353CC}">
                <c16:uniqueId val="{00000003-671E-4FF1-B666-FAFFC66CD10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Sheet4!$D$8:$D$14</c:f>
              <c:strCache>
                <c:ptCount val="7"/>
                <c:pt idx="0">
                  <c:v>10K or less</c:v>
                </c:pt>
                <c:pt idx="1">
                  <c:v>10K to 20K</c:v>
                </c:pt>
                <c:pt idx="2">
                  <c:v>20K to 30K</c:v>
                </c:pt>
                <c:pt idx="3">
                  <c:v>30K to 40K</c:v>
                </c:pt>
                <c:pt idx="4">
                  <c:v>40K to 50K</c:v>
                </c:pt>
                <c:pt idx="5">
                  <c:v>50K to 60K</c:v>
                </c:pt>
                <c:pt idx="6">
                  <c:v>More than 60K</c:v>
                </c:pt>
              </c:strCache>
            </c:strRef>
          </c:cat>
          <c:val>
            <c:numRef>
              <c:f>Sheet4!$H$8:$H$14</c:f>
              <c:numCache>
                <c:formatCode>0%</c:formatCode>
                <c:ptCount val="7"/>
                <c:pt idx="0">
                  <c:v>0.39942124844977261</c:v>
                </c:pt>
                <c:pt idx="1">
                  <c:v>0.26740726046419361</c:v>
                </c:pt>
                <c:pt idx="2">
                  <c:v>0.24665775401069517</c:v>
                </c:pt>
                <c:pt idx="3">
                  <c:v>0.17361314939829761</c:v>
                </c:pt>
                <c:pt idx="4">
                  <c:v>0.11729556268673232</c:v>
                </c:pt>
                <c:pt idx="5">
                  <c:v>0.17267936765301986</c:v>
                </c:pt>
                <c:pt idx="6">
                  <c:v>0.20971402632773492</c:v>
                </c:pt>
              </c:numCache>
            </c:numRef>
          </c:val>
          <c:extLst>
            <c:ext xmlns:c16="http://schemas.microsoft.com/office/drawing/2014/chart" uri="{C3380CC4-5D6E-409C-BE32-E72D297353CC}">
              <c16:uniqueId val="{00000004-671E-4FF1-B666-FAFFC66CD10C}"/>
            </c:ext>
          </c:extLst>
        </c:ser>
        <c:dLbls>
          <c:showLegendKey val="0"/>
          <c:showVal val="0"/>
          <c:showCatName val="0"/>
          <c:showSerName val="0"/>
          <c:showPercent val="0"/>
          <c:showBubbleSize val="0"/>
        </c:dLbls>
        <c:gapWidth val="182"/>
        <c:axId val="176695023"/>
        <c:axId val="176689199"/>
      </c:barChart>
      <c:catAx>
        <c:axId val="1766950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689199"/>
        <c:crosses val="autoZero"/>
        <c:auto val="1"/>
        <c:lblAlgn val="ctr"/>
        <c:lblOffset val="100"/>
        <c:noMultiLvlLbl val="0"/>
      </c:catAx>
      <c:valAx>
        <c:axId val="176689199"/>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6950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Lato"/>
                <a:ea typeface="Lato"/>
                <a:cs typeface="Lato"/>
                <a:sym typeface="Lato"/>
              </a:rPr>
              <a:t>‹#›</a:t>
            </a:fld>
            <a:endParaRPr sz="1200" b="0" i="0" u="none" strike="noStrike" cap="none">
              <a:solidFill>
                <a:schemeClr val="dk1"/>
              </a:solidFill>
              <a:latin typeface="Lato"/>
              <a:ea typeface="Lato"/>
              <a:cs typeface="Lato"/>
              <a:sym typeface="Lato"/>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Problem Statement</a:t>
            </a:r>
            <a:endParaRPr/>
          </a:p>
        </p:txBody>
      </p:sp>
      <p:sp>
        <p:nvSpPr>
          <p:cNvPr id="90" name="Google Shape;9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7" name="Google Shape;9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Provide at least three questions under each branch.</a:t>
            </a:r>
            <a:endParaRPr/>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All the frameworks that are used should be mentioned.</a:t>
            </a:r>
            <a:endParaRPr/>
          </a:p>
          <a:p>
            <a:pPr marL="457200" lvl="0" indent="-228600" algn="l" rtl="0">
              <a:lnSpc>
                <a:spcPct val="100000"/>
              </a:lnSpc>
              <a:spcBef>
                <a:spcPts val="0"/>
              </a:spcBef>
              <a:spcAft>
                <a:spcPts val="0"/>
              </a:spcAft>
              <a:buSzPts val="1400"/>
              <a:buFont typeface="Lato"/>
              <a:buChar char="-"/>
            </a:pPr>
            <a:r>
              <a:rPr lang="en-US"/>
              <a:t>A suitable reason is a must to provide here</a:t>
            </a:r>
            <a:endParaRPr/>
          </a:p>
        </p:txBody>
      </p:sp>
      <p:sp>
        <p:nvSpPr>
          <p:cNvPr id="120" name="Google Shape;12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Use the “download as” feature of Coggle if you are using the tool.</a:t>
            </a:r>
            <a:endParaRPr/>
          </a:p>
          <a:p>
            <a:pPr marL="457200" lvl="0" indent="-228600" algn="l" rtl="0">
              <a:lnSpc>
                <a:spcPct val="100000"/>
              </a:lnSpc>
              <a:spcBef>
                <a:spcPts val="0"/>
              </a:spcBef>
              <a:spcAft>
                <a:spcPts val="0"/>
              </a:spcAft>
              <a:buSzPts val="1400"/>
              <a:buFont typeface="Lato"/>
              <a:buChar char="-"/>
            </a:pPr>
            <a:r>
              <a:rPr lang="en-US"/>
              <a:t>Provide one image with complete tree along with separate elements where the text is readable.</a:t>
            </a:r>
            <a:endParaRPr/>
          </a:p>
          <a:p>
            <a:pPr marL="457200" lvl="0" indent="-228600" algn="l" rtl="0">
              <a:lnSpc>
                <a:spcPct val="100000"/>
              </a:lnSpc>
              <a:spcBef>
                <a:spcPts val="0"/>
              </a:spcBef>
              <a:spcAft>
                <a:spcPts val="0"/>
              </a:spcAft>
              <a:buSzPts val="1400"/>
              <a:buChar char="-"/>
            </a:pPr>
            <a:r>
              <a:rPr lang="en-US"/>
              <a:t>Copy the slide if you require more space</a:t>
            </a:r>
            <a:endParaRPr/>
          </a:p>
        </p:txBody>
      </p:sp>
      <p:sp>
        <p:nvSpPr>
          <p:cNvPr id="127" name="Google Shape;12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p:txBody>
      </p:sp>
      <p:sp>
        <p:nvSpPr>
          <p:cNvPr id="134" name="Google Shape;13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43" name="Google Shape;14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52" name="Google Shape;15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61" name="Google Shape;16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p:txBody>
      </p:sp>
      <p:sp>
        <p:nvSpPr>
          <p:cNvPr id="170" name="Google Shape;17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Analyse the variables in the dataset, find the insights and mention the pattern of insights in the data. Make more copies of this slide if needed.</a:t>
            </a:r>
            <a:endParaRPr/>
          </a:p>
        </p:txBody>
      </p:sp>
      <p:sp>
        <p:nvSpPr>
          <p:cNvPr id="179" name="Google Shape;17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188" name="Google Shape;18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195" name="Google Shape;19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202" name="Google Shape;20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209" name="Google Shape;20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 Make more copies of this slide if needed.</a:t>
            </a:r>
            <a:endParaRPr/>
          </a:p>
        </p:txBody>
      </p:sp>
      <p:sp>
        <p:nvSpPr>
          <p:cNvPr id="216" name="Google Shape;21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recommendation explain the insights that form the reasoning for giving that recommendation. Make more copies of this slide if necessary.</a:t>
            </a:r>
            <a:endParaRPr/>
          </a:p>
        </p:txBody>
      </p:sp>
      <p:sp>
        <p:nvSpPr>
          <p:cNvPr id="223" name="Google Shape;22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31" name="Google Shape;23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37" name="Google Shape;23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43" name="Google Shape;24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Lato"/>
              <a:buNone/>
              <a:defRPr sz="60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chemeClr val="dk1"/>
              </a:buClr>
              <a:buSzPts val="2400"/>
              <a:buNone/>
              <a:defRPr sz="2400">
                <a:latin typeface="Lato"/>
                <a:ea typeface="Lato"/>
                <a:cs typeface="Lato"/>
                <a:sym typeface="Lat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Lato"/>
              <a:buNone/>
              <a:defRPr sz="60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latin typeface="Lato"/>
                <a:ea typeface="Lato"/>
                <a:cs typeface="Lato"/>
                <a:sym typeface="Lato"/>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atin typeface="Lato"/>
                <a:ea typeface="Lato"/>
                <a:cs typeface="Lato"/>
                <a:sym typeface="Lato"/>
              </a:defRPr>
            </a:lvl1pPr>
            <a:lvl2pPr marL="914400" lvl="1" indent="-406400" algn="l">
              <a:lnSpc>
                <a:spcPct val="90000"/>
              </a:lnSpc>
              <a:spcBef>
                <a:spcPts val="500"/>
              </a:spcBef>
              <a:spcAft>
                <a:spcPts val="0"/>
              </a:spcAft>
              <a:buClr>
                <a:schemeClr val="dk1"/>
              </a:buClr>
              <a:buSzPts val="2800"/>
              <a:buChar char="•"/>
              <a:defRPr sz="2800">
                <a:latin typeface="Lato"/>
                <a:ea typeface="Lato"/>
                <a:cs typeface="Lato"/>
                <a:sym typeface="Lato"/>
              </a:defRPr>
            </a:lvl2pPr>
            <a:lvl3pPr marL="1371600" lvl="2" indent="-381000" algn="l">
              <a:lnSpc>
                <a:spcPct val="90000"/>
              </a:lnSpc>
              <a:spcBef>
                <a:spcPts val="500"/>
              </a:spcBef>
              <a:spcAft>
                <a:spcPts val="0"/>
              </a:spcAft>
              <a:buClr>
                <a:schemeClr val="dk1"/>
              </a:buClr>
              <a:buSzPts val="2400"/>
              <a:buChar char="•"/>
              <a:defRPr sz="2400">
                <a:latin typeface="Lato"/>
                <a:ea typeface="Lato"/>
                <a:cs typeface="Lato"/>
                <a:sym typeface="Lato"/>
              </a:defRPr>
            </a:lvl3pPr>
            <a:lvl4pPr marL="1828800" lvl="3" indent="-355600" algn="l">
              <a:lnSpc>
                <a:spcPct val="90000"/>
              </a:lnSpc>
              <a:spcBef>
                <a:spcPts val="500"/>
              </a:spcBef>
              <a:spcAft>
                <a:spcPts val="0"/>
              </a:spcAft>
              <a:buClr>
                <a:schemeClr val="dk1"/>
              </a:buClr>
              <a:buSzPts val="2000"/>
              <a:buChar char="•"/>
              <a:defRPr sz="2000">
                <a:latin typeface="Lato"/>
                <a:ea typeface="Lato"/>
                <a:cs typeface="Lato"/>
                <a:sym typeface="Lato"/>
              </a:defRPr>
            </a:lvl4pPr>
            <a:lvl5pPr marL="2286000" lvl="4" indent="-355600" algn="l">
              <a:lnSpc>
                <a:spcPct val="90000"/>
              </a:lnSpc>
              <a:spcBef>
                <a:spcPts val="500"/>
              </a:spcBef>
              <a:spcAft>
                <a:spcPts val="0"/>
              </a:spcAft>
              <a:buClr>
                <a:schemeClr val="dk1"/>
              </a:buClr>
              <a:buSzPts val="2000"/>
              <a:buChar char="•"/>
              <a:defRPr sz="2000">
                <a:latin typeface="Lato"/>
                <a:ea typeface="Lato"/>
                <a:cs typeface="Lato"/>
                <a:sym typeface="Lato"/>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Lato"/>
                <a:ea typeface="Lato"/>
                <a:cs typeface="Lato"/>
                <a:sym typeface="Lato"/>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Lato"/>
                <a:ea typeface="Lato"/>
                <a:cs typeface="Lato"/>
                <a:sym typeface="Lato"/>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Lato"/>
              <a:buNone/>
              <a:defRPr sz="44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1446847" y="622499"/>
            <a:ext cx="9877789" cy="73947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43F3C"/>
              </a:buClr>
              <a:buSzPts val="3600"/>
              <a:buFont typeface="Lato"/>
              <a:buNone/>
            </a:pPr>
            <a:r>
              <a:rPr lang="en-US" sz="3600" b="1">
                <a:solidFill>
                  <a:srgbClr val="F43F3C"/>
                </a:solidFill>
              </a:rPr>
              <a:t>ASSIGNMENT GUIDELINES</a:t>
            </a:r>
            <a:endParaRPr/>
          </a:p>
        </p:txBody>
      </p:sp>
      <p:sp>
        <p:nvSpPr>
          <p:cNvPr id="85" name="Google Shape;85;p12"/>
          <p:cNvSpPr txBox="1"/>
          <p:nvPr/>
        </p:nvSpPr>
        <p:spPr>
          <a:xfrm>
            <a:off x="602478" y="1526520"/>
            <a:ext cx="10987044" cy="4708981"/>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Make </a:t>
            </a:r>
            <a:r>
              <a:rPr lang="en-US" sz="2000">
                <a:solidFill>
                  <a:srgbClr val="757070"/>
                </a:solidFill>
                <a:latin typeface="Lato"/>
                <a:ea typeface="Lato"/>
                <a:cs typeface="Lato"/>
                <a:sym typeface="Lato"/>
              </a:rPr>
              <a:t>the changes in the</a:t>
            </a:r>
            <a:r>
              <a:rPr lang="en-US" sz="2000" b="0" i="0" u="none" strike="noStrike" cap="none">
                <a:solidFill>
                  <a:srgbClr val="757070"/>
                </a:solidFill>
                <a:latin typeface="Lato"/>
                <a:ea typeface="Lato"/>
                <a:cs typeface="Lato"/>
                <a:sym typeface="Lato"/>
              </a:rPr>
              <a:t> PPT </a:t>
            </a:r>
            <a:r>
              <a:rPr lang="en-US" sz="2000">
                <a:solidFill>
                  <a:srgbClr val="757070"/>
                </a:solidFill>
                <a:latin typeface="Lato"/>
                <a:ea typeface="Lato"/>
                <a:cs typeface="Lato"/>
                <a:sym typeface="Lato"/>
              </a:rPr>
              <a:t>as you solve the parts</a:t>
            </a:r>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This file contains the template for all the parts of the project.</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Check the instructions added in the note section of every slide for clarity.</a:t>
            </a: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Don’t move around any image or text box</a:t>
            </a: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a:solidFill>
                <a:srgbClr val="757070"/>
              </a:solidFill>
              <a:latin typeface="Lato"/>
              <a:ea typeface="Lato"/>
              <a:cs typeface="Lato"/>
              <a:sym typeface="Lato"/>
            </a:endParaRPr>
          </a:p>
          <a:p>
            <a:pPr marL="285750" marR="0" lvl="0" indent="-28575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If you require more/lesser elements, be careful when you copy/delete the existing ones.</a:t>
            </a:r>
            <a:endParaRPr/>
          </a:p>
          <a:p>
            <a:pPr marL="285750" marR="0" lvl="0" indent="-158750" algn="l" rtl="0">
              <a:lnSpc>
                <a:spcPct val="100000"/>
              </a:lnSpc>
              <a:spcBef>
                <a:spcPts val="0"/>
              </a:spcBef>
              <a:spcAft>
                <a:spcPts val="0"/>
              </a:spcAft>
              <a:buClr>
                <a:srgbClr val="757070"/>
              </a:buClr>
              <a:buSzPts val="2000"/>
              <a:buFont typeface="Arial"/>
              <a:buNone/>
            </a:pP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a:solidFill>
                <a:srgbClr val="757070"/>
              </a:solidFill>
              <a:latin typeface="Lato"/>
              <a:ea typeface="Lato"/>
              <a:cs typeface="Lato"/>
              <a:sym typeface="Lato"/>
            </a:endParaRPr>
          </a:p>
        </p:txBody>
      </p:sp>
      <p:pic>
        <p:nvPicPr>
          <p:cNvPr id="1026" name="Picture 2">
            <a:extLst>
              <a:ext uri="{FF2B5EF4-FFF2-40B4-BE49-F238E27FC236}">
                <a16:creationId xmlns:a16="http://schemas.microsoft.com/office/drawing/2014/main" id="{51497B4F-1503-DCA8-7DE7-2C45118B6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2636" y="9123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838200" y="1189588"/>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sz="4000" b="1" dirty="0">
                <a:solidFill>
                  <a:srgbClr val="EF413D"/>
                </a:solidFill>
              </a:rPr>
              <a:t>ASSIGNMENT</a:t>
            </a:r>
            <a:br>
              <a:rPr lang="en-US" sz="4000" b="1" dirty="0">
                <a:solidFill>
                  <a:srgbClr val="EF413D"/>
                </a:solidFill>
              </a:rPr>
            </a:br>
            <a:r>
              <a:rPr lang="en-US" sz="1100" b="1" dirty="0">
                <a:solidFill>
                  <a:srgbClr val="EF413D"/>
                </a:solidFill>
              </a:rPr>
              <a:t> </a:t>
            </a:r>
            <a:br>
              <a:rPr lang="en-US" sz="4000" b="1" dirty="0"/>
            </a:br>
            <a:r>
              <a:rPr lang="en-US" sz="3400" dirty="0">
                <a:solidFill>
                  <a:srgbClr val="5A5A5A"/>
                </a:solidFill>
              </a:rPr>
              <a:t>Name: Ridhima Atrey</a:t>
            </a:r>
            <a:endParaRPr dirty="0">
              <a:solidFill>
                <a:srgbClr val="5A5A5A"/>
              </a:solidFill>
            </a:endParaRPr>
          </a:p>
        </p:txBody>
      </p:sp>
      <p:sp>
        <p:nvSpPr>
          <p:cNvPr id="93" name="Google Shape;93;p13"/>
          <p:cNvSpPr txBox="1">
            <a:spLocks noGrp="1"/>
          </p:cNvSpPr>
          <p:nvPr>
            <p:ph type="body" idx="1"/>
          </p:nvPr>
        </p:nvSpPr>
        <p:spPr>
          <a:xfrm>
            <a:off x="838200" y="3339612"/>
            <a:ext cx="10515600" cy="3312300"/>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SzPts val="2800"/>
              <a:buNone/>
            </a:pPr>
            <a:r>
              <a:rPr lang="en-US" sz="2400">
                <a:solidFill>
                  <a:srgbClr val="EF413D"/>
                </a:solidFill>
              </a:rPr>
              <a:t>Problem Statement</a:t>
            </a:r>
            <a:br>
              <a:rPr lang="en-US"/>
            </a:br>
            <a:r>
              <a:rPr lang="en-US" sz="1400"/>
              <a:t> </a:t>
            </a:r>
            <a:br>
              <a:rPr lang="en-US"/>
            </a:br>
            <a:r>
              <a:rPr lang="en-US" sz="2000">
                <a:solidFill>
                  <a:srgbClr val="5A5A5A"/>
                </a:solidFill>
              </a:rPr>
              <a:t>The sales pipeline conversion percentage at TechnoServe (a tech SaaS startup) has dropped from 35% at the end of last fiscal (FY 2017-18) to 25% at present.</a:t>
            </a:r>
            <a:endParaRPr sz="2000">
              <a:solidFill>
                <a:srgbClr val="5A5A5A"/>
              </a:solidFill>
            </a:endParaRPr>
          </a:p>
          <a:p>
            <a:pPr marL="50800" lvl="0" indent="0" algn="l" rtl="0">
              <a:lnSpc>
                <a:spcPct val="90000"/>
              </a:lnSpc>
              <a:spcBef>
                <a:spcPts val="1000"/>
              </a:spcBef>
              <a:spcAft>
                <a:spcPts val="0"/>
              </a:spcAft>
              <a:buSzPts val="2800"/>
              <a:buNone/>
            </a:pPr>
            <a:endParaRPr sz="2000">
              <a:solidFill>
                <a:srgbClr val="5A5A5A"/>
              </a:solidFill>
            </a:endParaRPr>
          </a:p>
          <a:p>
            <a:pPr marL="50800" marR="0" lvl="0" indent="0" algn="l" rtl="0">
              <a:lnSpc>
                <a:spcPct val="90000"/>
              </a:lnSpc>
              <a:spcBef>
                <a:spcPts val="0"/>
              </a:spcBef>
              <a:spcAft>
                <a:spcPts val="0"/>
              </a:spcAft>
              <a:buSzPts val="2800"/>
              <a:buNone/>
            </a:pPr>
            <a:r>
              <a:rPr lang="en-US" sz="2400">
                <a:solidFill>
                  <a:srgbClr val="EF413D"/>
                </a:solidFill>
              </a:rPr>
              <a:t>Assignment Objective</a:t>
            </a:r>
            <a:endParaRPr sz="2400">
              <a:solidFill>
                <a:srgbClr val="EF413D"/>
              </a:solidFill>
            </a:endParaRPr>
          </a:p>
          <a:p>
            <a:pPr marL="50800" lvl="0" indent="0" algn="l" rtl="0">
              <a:spcBef>
                <a:spcPts val="0"/>
              </a:spcBef>
              <a:spcAft>
                <a:spcPts val="0"/>
              </a:spcAft>
              <a:buClr>
                <a:schemeClr val="dk1"/>
              </a:buClr>
              <a:buSzPts val="2800"/>
              <a:buFont typeface="Arial"/>
              <a:buNone/>
            </a:pPr>
            <a:r>
              <a:rPr lang="en-US" sz="1400"/>
              <a:t> </a:t>
            </a:r>
            <a:endParaRPr sz="2400">
              <a:solidFill>
                <a:srgbClr val="EF413D"/>
              </a:solidFill>
            </a:endParaRPr>
          </a:p>
          <a:p>
            <a:pPr marL="50800" marR="0" lvl="0" indent="0" algn="l" rtl="0">
              <a:lnSpc>
                <a:spcPct val="90000"/>
              </a:lnSpc>
              <a:spcBef>
                <a:spcPts val="0"/>
              </a:spcBef>
              <a:spcAft>
                <a:spcPts val="0"/>
              </a:spcAft>
              <a:buSzPts val="2800"/>
              <a:buNone/>
            </a:pPr>
            <a:r>
              <a:rPr lang="en-US" sz="2000">
                <a:solidFill>
                  <a:srgbClr val="5A5A5A"/>
                </a:solidFill>
              </a:rPr>
              <a:t>Understand the problem, come up with a hypothesis for low conversions faced by TechnoServe, and analyse the dataset provided to arrive at possible solutions to increase it.</a:t>
            </a:r>
            <a:endParaRPr sz="2000">
              <a:solidFill>
                <a:srgbClr val="5A5A5A"/>
              </a:solidFill>
            </a:endParaRPr>
          </a:p>
        </p:txBody>
      </p:sp>
      <p:pic>
        <p:nvPicPr>
          <p:cNvPr id="2050" name="Picture 2">
            <a:extLst>
              <a:ext uri="{FF2B5EF4-FFF2-40B4-BE49-F238E27FC236}">
                <a16:creationId xmlns:a16="http://schemas.microsoft.com/office/drawing/2014/main" id="{BC1717C9-A632-8382-9C7B-CAF87CA5C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1169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 : 1. Understanding the Problem</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00" name="Google Shape;100;p14"/>
          <p:cNvGrpSpPr/>
          <p:nvPr/>
        </p:nvGrpSpPr>
        <p:grpSpPr>
          <a:xfrm>
            <a:off x="589265" y="2008705"/>
            <a:ext cx="11013470" cy="4680021"/>
            <a:chOff x="589265" y="4726688"/>
            <a:chExt cx="11013470" cy="751193"/>
          </a:xfrm>
        </p:grpSpPr>
        <p:sp>
          <p:nvSpPr>
            <p:cNvPr id="101" name="Google Shape;101;p14"/>
            <p:cNvSpPr txBox="1"/>
            <p:nvPr/>
          </p:nvSpPr>
          <p:spPr>
            <a:xfrm>
              <a:off x="58926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Who?</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err="1">
                  <a:solidFill>
                    <a:srgbClr val="000000"/>
                  </a:solidFill>
                  <a:latin typeface="Lato"/>
                  <a:ea typeface="Lato"/>
                  <a:cs typeface="Lato"/>
                  <a:sym typeface="Lato"/>
                </a:rPr>
                <a:t>TechnoServe</a:t>
              </a:r>
              <a:r>
                <a:rPr lang="en-US" sz="1400" b="0" i="0" u="none" strike="noStrike" cap="none" dirty="0">
                  <a:solidFill>
                    <a:srgbClr val="000000"/>
                  </a:solidFill>
                  <a:latin typeface="Lato"/>
                  <a:ea typeface="Lato"/>
                  <a:cs typeface="Lato"/>
                  <a:sym typeface="Lato"/>
                </a:rPr>
                <a:t>, a tech </a:t>
              </a:r>
              <a:r>
                <a:rPr lang="en-US" dirty="0">
                  <a:latin typeface="Lato"/>
                  <a:ea typeface="Lato"/>
                  <a:cs typeface="Lato"/>
                  <a:sym typeface="Lato"/>
                </a:rPr>
                <a:t>S</a:t>
              </a:r>
              <a:r>
                <a:rPr lang="en-US" sz="1400" b="0" i="0" u="none" strike="noStrike" cap="none" dirty="0">
                  <a:solidFill>
                    <a:srgbClr val="000000"/>
                  </a:solidFill>
                  <a:latin typeface="Lato"/>
                  <a:ea typeface="Lato"/>
                  <a:cs typeface="Lato"/>
                  <a:sym typeface="Lato"/>
                </a:rPr>
                <a:t>aaS company founded in </a:t>
              </a:r>
              <a:r>
                <a:rPr lang="en-US" sz="1400" b="0" i="0" u="none" strike="noStrike" cap="none" dirty="0" err="1">
                  <a:solidFill>
                    <a:srgbClr val="000000"/>
                  </a:solidFill>
                  <a:latin typeface="Lato"/>
                  <a:ea typeface="Lato"/>
                  <a:cs typeface="Lato"/>
                  <a:sym typeface="Lato"/>
                </a:rPr>
                <a:t>yr</a:t>
              </a:r>
              <a:r>
                <a:rPr lang="en-US" sz="1400" b="0" i="0" u="none" strike="noStrike" cap="none" dirty="0">
                  <a:solidFill>
                    <a:srgbClr val="000000"/>
                  </a:solidFill>
                  <a:latin typeface="Lato"/>
                  <a:ea typeface="Lato"/>
                  <a:cs typeface="Lato"/>
                  <a:sym typeface="Lato"/>
                </a:rPr>
                <a:t> 2010.</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Located in Pune with over 600 employees.</a:t>
              </a:r>
              <a:endParaRPr lang="en-US" sz="1400" b="0" i="0" u="none" strike="noStrike" cap="none" dirty="0">
                <a:solidFill>
                  <a:srgbClr val="000000"/>
                </a:solidFill>
                <a:latin typeface="Lato"/>
                <a:ea typeface="Lato"/>
                <a:cs typeface="Lato"/>
                <a:sym typeface="Lato"/>
              </a:endParaRPr>
            </a:p>
          </p:txBody>
        </p:sp>
        <p:sp>
          <p:nvSpPr>
            <p:cNvPr id="102" name="Google Shape;102;p14"/>
            <p:cNvSpPr txBox="1"/>
            <p:nvPr/>
          </p:nvSpPr>
          <p:spPr>
            <a:xfrm>
              <a:off x="2830333" y="4726689"/>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What?</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There is a drop in sales pipeline conversion percentage by 10%. </a:t>
              </a:r>
              <a:br>
                <a:rPr lang="en-US" dirty="0">
                  <a:latin typeface="Lato"/>
                  <a:ea typeface="Lato"/>
                  <a:cs typeface="Lato"/>
                  <a:sym typeface="Lato"/>
                </a:rPr>
              </a:br>
              <a:r>
                <a:rPr lang="en-US" dirty="0">
                  <a:latin typeface="Lato"/>
                  <a:ea typeface="Lato"/>
                  <a:cs typeface="Lato"/>
                  <a:sym typeface="Lato"/>
                </a:rPr>
                <a:t>(It has dropped from 35% to 25%.)</a:t>
              </a:r>
              <a:endParaRPr lang="en-US" dirty="0"/>
            </a:p>
          </p:txBody>
        </p:sp>
        <p:sp>
          <p:nvSpPr>
            <p:cNvPr id="103" name="Google Shape;103;p14"/>
            <p:cNvSpPr txBox="1"/>
            <p:nvPr/>
          </p:nvSpPr>
          <p:spPr>
            <a:xfrm>
              <a:off x="5071401" y="4726689"/>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When?</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Occurring over the last 3 quarters.</a:t>
              </a:r>
              <a:br>
                <a:rPr lang="en-US" dirty="0">
                  <a:latin typeface="Lato"/>
                  <a:ea typeface="Lato"/>
                  <a:cs typeface="Lato"/>
                  <a:sym typeface="Lato"/>
                </a:rPr>
              </a:br>
              <a:r>
                <a:rPr lang="en-US" dirty="0">
                  <a:latin typeface="Lato"/>
                  <a:ea typeface="Lato"/>
                  <a:cs typeface="Lato"/>
                  <a:sym typeface="Lato"/>
                </a:rPr>
                <a:t>Around the end of the last fiscal (</a:t>
              </a:r>
              <a:r>
                <a:rPr lang="en-US" dirty="0" err="1">
                  <a:latin typeface="Lato"/>
                  <a:ea typeface="Lato"/>
                  <a:cs typeface="Lato"/>
                  <a:sym typeface="Lato"/>
                </a:rPr>
                <a:t>fy</a:t>
              </a:r>
              <a:r>
                <a:rPr lang="en-US" dirty="0">
                  <a:latin typeface="Lato"/>
                  <a:ea typeface="Lato"/>
                  <a:cs typeface="Lato"/>
                  <a:sym typeface="Lato"/>
                </a:rPr>
                <a:t> 2017-2018).</a:t>
              </a:r>
              <a:endParaRPr lang="en-US" dirty="0"/>
            </a:p>
          </p:txBody>
        </p:sp>
        <p:sp>
          <p:nvSpPr>
            <p:cNvPr id="104" name="Google Shape;104;p14"/>
            <p:cNvSpPr txBox="1"/>
            <p:nvPr/>
          </p:nvSpPr>
          <p:spPr>
            <a:xfrm>
              <a:off x="956153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How?</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Sales and customer related issue.</a:t>
              </a:r>
              <a:br>
                <a:rPr lang="en-US" dirty="0">
                  <a:latin typeface="Lato" panose="020F0502020204030203" pitchFamily="34" charset="0"/>
                  <a:ea typeface="Lato" panose="020F0502020204030203" pitchFamily="34" charset="0"/>
                  <a:cs typeface="Lato" panose="020F0502020204030203" pitchFamily="34" charset="0"/>
                </a:rPr>
              </a:br>
              <a:br>
                <a:rPr lang="en-US" dirty="0">
                  <a:latin typeface="Lato" panose="020F0502020204030203" pitchFamily="34" charset="0"/>
                  <a:ea typeface="Lato" panose="020F0502020204030203" pitchFamily="34" charset="0"/>
                  <a:cs typeface="Lato" panose="020F0502020204030203" pitchFamily="34" charset="0"/>
                </a:rPr>
              </a:br>
              <a:r>
                <a:rPr lang="en-US" dirty="0">
                  <a:latin typeface="Lato" panose="020F0502020204030203" pitchFamily="34" charset="0"/>
                  <a:ea typeface="Lato" panose="020F0502020204030203" pitchFamily="34" charset="0"/>
                  <a:cs typeface="Lato" panose="020F0502020204030203" pitchFamily="34" charset="0"/>
                </a:rPr>
                <a:t>Marketing on the wrong channels.</a:t>
              </a:r>
              <a:endParaRPr dirty="0">
                <a:latin typeface="Lato" panose="020F0502020204030203" pitchFamily="34" charset="0"/>
                <a:ea typeface="Lato" panose="020F0502020204030203" pitchFamily="34" charset="0"/>
                <a:cs typeface="Lato" panose="020F0502020204030203" pitchFamily="34" charset="0"/>
              </a:endParaRPr>
            </a:p>
          </p:txBody>
        </p:sp>
        <p:sp>
          <p:nvSpPr>
            <p:cNvPr id="105" name="Google Shape;105;p14"/>
            <p:cNvSpPr txBox="1"/>
            <p:nvPr/>
          </p:nvSpPr>
          <p:spPr>
            <a:xfrm>
              <a:off x="7312469" y="4726691"/>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Where?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Among the clients across different cities.</a:t>
              </a:r>
              <a:endParaRPr dirty="0"/>
            </a:p>
          </p:txBody>
        </p:sp>
      </p:grpSp>
      <p:pic>
        <p:nvPicPr>
          <p:cNvPr id="3074" name="Picture 2">
            <a:extLst>
              <a:ext uri="{FF2B5EF4-FFF2-40B4-BE49-F238E27FC236}">
                <a16:creationId xmlns:a16="http://schemas.microsoft.com/office/drawing/2014/main" id="{99A740F0-77A8-2FD7-B0F2-D8B05EB45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47069"/>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 : 2. Understanding the Problem</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12" name="Google Shape;112;p15"/>
          <p:cNvGrpSpPr/>
          <p:nvPr/>
        </p:nvGrpSpPr>
        <p:grpSpPr>
          <a:xfrm>
            <a:off x="619593" y="2008716"/>
            <a:ext cx="10952813" cy="4680022"/>
            <a:chOff x="589265" y="4726688"/>
            <a:chExt cx="8764404" cy="751193"/>
          </a:xfrm>
        </p:grpSpPr>
        <p:sp>
          <p:nvSpPr>
            <p:cNvPr id="113" name="Google Shape;113;p15"/>
            <p:cNvSpPr txBox="1"/>
            <p:nvPr/>
          </p:nvSpPr>
          <p:spPr>
            <a:xfrm>
              <a:off x="58926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Situation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What is the current sales conversion rate and how it has changed in the last 3 quarters?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Is there any thing that has changed recently in the last 3 quarters?</a:t>
              </a:r>
              <a:br>
                <a:rPr lang="en-US" dirty="0">
                  <a:latin typeface="Lato"/>
                  <a:ea typeface="Lato"/>
                  <a:cs typeface="Lato"/>
                  <a:sym typeface="Lato"/>
                </a:rPr>
              </a:b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What Channels are</a:t>
              </a:r>
              <a:r>
                <a:rPr lang="en-US" dirty="0">
                  <a:latin typeface="Lato"/>
                  <a:ea typeface="Lato"/>
                  <a:cs typeface="Lato"/>
                  <a:sym typeface="Lato"/>
                </a:rPr>
                <a:t> being</a:t>
              </a:r>
              <a:r>
                <a:rPr lang="en-US" sz="1400" b="0" i="0" u="none" strike="noStrike" cap="none" dirty="0">
                  <a:solidFill>
                    <a:srgbClr val="000000"/>
                  </a:solidFill>
                  <a:latin typeface="Lato"/>
                  <a:ea typeface="Lato"/>
                  <a:cs typeface="Lato"/>
                  <a:sym typeface="Lato"/>
                </a:rPr>
                <a:t> used currently for marketing?</a:t>
              </a:r>
              <a:br>
                <a:rPr lang="en-US" dirty="0">
                  <a:latin typeface="Lato"/>
                  <a:ea typeface="Lato"/>
                  <a:cs typeface="Lato"/>
                  <a:sym typeface="Lato"/>
                </a:rPr>
              </a:br>
              <a:br>
                <a:rPr lang="en-US" dirty="0">
                  <a:latin typeface="Lato"/>
                  <a:ea typeface="Lato"/>
                  <a:cs typeface="Lato"/>
                  <a:sym typeface="Lato"/>
                </a:rPr>
              </a:br>
              <a:r>
                <a:rPr lang="en-US" dirty="0">
                  <a:latin typeface="Lato"/>
                  <a:ea typeface="Lato"/>
                  <a:cs typeface="Lato"/>
                  <a:sym typeface="Lato"/>
                </a:rPr>
                <a:t>What processes the sales team follow while converting the leads?</a:t>
              </a:r>
              <a:endParaRPr sz="1400" b="0" i="0" u="none" strike="noStrike" cap="none" dirty="0">
                <a:solidFill>
                  <a:srgbClr val="000000"/>
                </a:solidFill>
                <a:latin typeface="Lato"/>
                <a:ea typeface="Lato"/>
                <a:cs typeface="Lato"/>
                <a:sym typeface="Lato"/>
              </a:endParaRPr>
            </a:p>
          </p:txBody>
        </p:sp>
        <p:sp>
          <p:nvSpPr>
            <p:cNvPr id="114" name="Google Shape;114;p15"/>
            <p:cNvSpPr txBox="1"/>
            <p:nvPr/>
          </p:nvSpPr>
          <p:spPr>
            <a:xfrm>
              <a:off x="2830333" y="4726689"/>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Problem</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Is there any specific level where the drop is happening?</a:t>
              </a:r>
              <a:br>
                <a:rPr lang="en-US" dirty="0">
                  <a:latin typeface="Lato"/>
                  <a:ea typeface="Lato"/>
                  <a:cs typeface="Lato"/>
                  <a:sym typeface="Lato"/>
                </a:rPr>
              </a:b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 Is there any difference in conversion rate across the cities?</a:t>
              </a:r>
              <a:br>
                <a:rPr lang="en-US" dirty="0">
                  <a:latin typeface="Lato"/>
                  <a:ea typeface="Lato"/>
                  <a:cs typeface="Lato"/>
                  <a:sym typeface="Lato"/>
                </a:rPr>
              </a:br>
              <a:br>
                <a:rPr lang="en-US" dirty="0">
                  <a:latin typeface="Lato"/>
                  <a:ea typeface="Lato"/>
                  <a:cs typeface="Lato"/>
                  <a:sym typeface="Lato"/>
                </a:rPr>
              </a:br>
              <a:r>
                <a:rPr lang="en-US" dirty="0">
                  <a:latin typeface="Lato"/>
                  <a:ea typeface="Lato"/>
                  <a:cs typeface="Lato"/>
                  <a:sym typeface="Lato"/>
                </a:rPr>
                <a:t>Is there any customer feedback about the services?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Is there any new competition entered in the market?</a:t>
              </a:r>
            </a:p>
            <a:p>
              <a:pPr marL="0" marR="0" lvl="0" indent="0" algn="l" rtl="0">
                <a:lnSpc>
                  <a:spcPct val="100000"/>
                </a:lnSpc>
                <a:spcBef>
                  <a:spcPts val="0"/>
                </a:spcBef>
                <a:spcAft>
                  <a:spcPts val="0"/>
                </a:spcAft>
                <a:buNone/>
              </a:pPr>
              <a:endParaRPr lang="en-US" dirty="0"/>
            </a:p>
          </p:txBody>
        </p:sp>
        <p:sp>
          <p:nvSpPr>
            <p:cNvPr id="115" name="Google Shape;115;p15"/>
            <p:cNvSpPr txBox="1"/>
            <p:nvPr/>
          </p:nvSpPr>
          <p:spPr>
            <a:xfrm>
              <a:off x="5071401" y="4726689"/>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Implication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What is the impact of this drop in conversion on the revenue?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How is this affecting the investors to invest in future?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If it continues, what effect can be seen in the long term on business growth?</a:t>
              </a:r>
              <a:endParaRPr dirty="0"/>
            </a:p>
          </p:txBody>
        </p:sp>
        <p:sp>
          <p:nvSpPr>
            <p:cNvPr id="116" name="Google Shape;116;p15"/>
            <p:cNvSpPr txBox="1"/>
            <p:nvPr/>
          </p:nvSpPr>
          <p:spPr>
            <a:xfrm>
              <a:off x="7312469" y="4726691"/>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Need-Payoff</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 team focus on better communication with clients will that help in conversion?</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If sales team trained well or avoided over promising, how would it affect sales conversion?</a:t>
              </a:r>
              <a:br>
                <a:rPr lang="en-US" dirty="0">
                  <a:latin typeface="Lato"/>
                  <a:ea typeface="Lato"/>
                  <a:cs typeface="Lato"/>
                  <a:sym typeface="Lato"/>
                </a:rPr>
              </a:b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Would shifting the marketing to the right channels with the target customers improve the sales conversion?</a:t>
              </a:r>
              <a:br>
                <a:rPr lang="en-US" dirty="0">
                  <a:latin typeface="Lato"/>
                  <a:ea typeface="Lato"/>
                  <a:cs typeface="Lato"/>
                  <a:sym typeface="Lato"/>
                </a:rPr>
              </a:br>
              <a:endParaRPr lang="en-US" dirty="0">
                <a:latin typeface="Lato"/>
                <a:ea typeface="Lato"/>
                <a:cs typeface="Lato"/>
                <a:sym typeface="Lato"/>
              </a:endParaRP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endParaRPr dirty="0"/>
            </a:p>
          </p:txBody>
        </p:sp>
      </p:grpSp>
      <p:pic>
        <p:nvPicPr>
          <p:cNvPr id="4098" name="Picture 2">
            <a:extLst>
              <a:ext uri="{FF2B5EF4-FFF2-40B4-BE49-F238E27FC236}">
                <a16:creationId xmlns:a16="http://schemas.microsoft.com/office/drawing/2014/main" id="{3AA2F4A2-948F-4640-F51C-3C29EC433C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0" y="4707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23" name="Google Shape;123;p16"/>
          <p:cNvSpPr txBox="1"/>
          <p:nvPr/>
        </p:nvSpPr>
        <p:spPr>
          <a:xfrm>
            <a:off x="514664" y="2009522"/>
            <a:ext cx="11162674" cy="4493538"/>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Framework Used</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Issue Tree Framework</a:t>
            </a:r>
            <a:endParaRPr lang="en-US"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Reason for using the selected framework</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I used this to break down the problem into smaller parts to identify all the possible causes of low conversion rates.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How you have used the framework here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To apply this framework, I took both the business owner and customer perspective and asked what problems I can face by the customer and for what reasons they can arise. I thought about the different reasons keeping MECE in mind and categorized into sales process, marketing, customer satisfaction and behavior. I also referred 5W framework and 5WHYs explained in the video.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5122" name="Picture 2">
            <a:extLst>
              <a:ext uri="{FF2B5EF4-FFF2-40B4-BE49-F238E27FC236}">
                <a16:creationId xmlns:a16="http://schemas.microsoft.com/office/drawing/2014/main" id="{343A968B-FF48-E49A-D51F-E334705C4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0552"/>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dirty="0">
                <a:solidFill>
                  <a:srgbClr val="EF413D"/>
                </a:solidFill>
              </a:rPr>
              <a:t>PART II : Formulating Hypotheses</a:t>
            </a:r>
            <a:br>
              <a:rPr lang="en-US" sz="3500" b="1" dirty="0">
                <a:solidFill>
                  <a:srgbClr val="EF413D"/>
                </a:solidFill>
              </a:rPr>
            </a:br>
            <a:r>
              <a:rPr lang="en-US" sz="1000" b="1" dirty="0">
                <a:solidFill>
                  <a:srgbClr val="EF413D"/>
                </a:solidFill>
              </a:rPr>
              <a:t> </a:t>
            </a:r>
            <a:br>
              <a:rPr lang="en-US" b="1" dirty="0"/>
            </a:br>
            <a:r>
              <a:rPr lang="en-US" sz="3000" dirty="0">
                <a:solidFill>
                  <a:srgbClr val="5A5A5A"/>
                </a:solidFill>
              </a:rPr>
              <a:t>Sales Pipeline Conversion at a SaaS Startup</a:t>
            </a:r>
            <a:endParaRPr sz="3000" dirty="0"/>
          </a:p>
        </p:txBody>
      </p:sp>
      <p:sp>
        <p:nvSpPr>
          <p:cNvPr id="130" name="Google Shape;130;p17"/>
          <p:cNvSpPr txBox="1"/>
          <p:nvPr/>
        </p:nvSpPr>
        <p:spPr>
          <a:xfrm>
            <a:off x="514664" y="3719238"/>
            <a:ext cx="11162674" cy="73866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Provide the structure of the framework here</a:t>
            </a:r>
            <a:endParaRPr dirty="0"/>
          </a:p>
          <a:p>
            <a:pPr marL="0" marR="0" lvl="0" indent="0" algn="ctr"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ctr"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(You can attach the screenshot or multiple screenshots depending on the clarity of the image)</a:t>
            </a:r>
            <a:endParaRPr dirty="0"/>
          </a:p>
        </p:txBody>
      </p:sp>
      <p:pic>
        <p:nvPicPr>
          <p:cNvPr id="6146" name="Picture 2">
            <a:extLst>
              <a:ext uri="{FF2B5EF4-FFF2-40B4-BE49-F238E27FC236}">
                <a16:creationId xmlns:a16="http://schemas.microsoft.com/office/drawing/2014/main" id="{5CDF4712-1FE9-C21A-63B9-17FAF26A57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0552"/>
            <a:ext cx="1524000" cy="7334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DF721FA-92D3-46A2-99AF-16C76C2BDF91}"/>
              </a:ext>
            </a:extLst>
          </p:cNvPr>
          <p:cNvSpPr txBox="1"/>
          <p:nvPr/>
        </p:nvSpPr>
        <p:spPr>
          <a:xfrm>
            <a:off x="4842235" y="1626653"/>
            <a:ext cx="3462780" cy="400110"/>
          </a:xfrm>
          <a:prstGeom prst="rect">
            <a:avLst/>
          </a:prstGeom>
          <a:noFill/>
        </p:spPr>
        <p:txBody>
          <a:bodyPr wrap="square" rtlCol="0">
            <a:spAutoFit/>
          </a:bodyPr>
          <a:lstStyle/>
          <a:p>
            <a:r>
              <a:rPr lang="en-US" sz="2000" b="1" dirty="0"/>
              <a:t>Issue Tree Framework</a:t>
            </a:r>
          </a:p>
        </p:txBody>
      </p:sp>
      <p:pic>
        <p:nvPicPr>
          <p:cNvPr id="3" name="Picture 2">
            <a:extLst>
              <a:ext uri="{FF2B5EF4-FFF2-40B4-BE49-F238E27FC236}">
                <a16:creationId xmlns:a16="http://schemas.microsoft.com/office/drawing/2014/main" id="{077161E8-34E5-4C60-8DF8-9F6A667AEE3D}"/>
              </a:ext>
            </a:extLst>
          </p:cNvPr>
          <p:cNvPicPr>
            <a:picLocks noChangeAspect="1"/>
          </p:cNvPicPr>
          <p:nvPr/>
        </p:nvPicPr>
        <p:blipFill>
          <a:blip r:embed="rId4"/>
          <a:stretch>
            <a:fillRect/>
          </a:stretch>
        </p:blipFill>
        <p:spPr>
          <a:xfrm>
            <a:off x="1512182" y="2027079"/>
            <a:ext cx="8851018" cy="48616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37" name="Google Shape;137;p18"/>
          <p:cNvGrpSpPr/>
          <p:nvPr/>
        </p:nvGrpSpPr>
        <p:grpSpPr>
          <a:xfrm>
            <a:off x="514664" y="2009465"/>
            <a:ext cx="11162675" cy="4593842"/>
            <a:chOff x="589265" y="4632481"/>
            <a:chExt cx="2041200" cy="229238"/>
          </a:xfrm>
        </p:grpSpPr>
        <p:sp>
          <p:nvSpPr>
            <p:cNvPr id="138" name="Google Shape;138;p18"/>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2000" b="1" dirty="0">
                  <a:latin typeface="Lato" panose="020F0502020204030203" pitchFamily="34" charset="0"/>
                  <a:ea typeface="Lato" panose="020F0502020204030203" pitchFamily="34" charset="0"/>
                  <a:cs typeface="Lato" panose="020F0502020204030203" pitchFamily="34" charset="0"/>
                </a:rPr>
                <a:t>Marketing Issue</a:t>
              </a:r>
            </a:p>
            <a:p>
              <a:pPr>
                <a:buClr>
                  <a:schemeClr val="dk1"/>
                </a:buClr>
              </a:pPr>
              <a:r>
                <a:rPr lang="en-US" sz="1800" dirty="0">
                  <a:latin typeface="Lato" panose="020F0502020204030203" pitchFamily="34" charset="0"/>
                  <a:ea typeface="Lato" panose="020F0502020204030203" pitchFamily="34" charset="0"/>
                  <a:cs typeface="Lato" panose="020F0502020204030203" pitchFamily="34" charset="0"/>
                </a:rPr>
                <a:t>The marketing channels are not reaching the right audience, which could be why the conversion rate is low.</a:t>
              </a:r>
            </a:p>
            <a:p>
              <a:pPr>
                <a:buClr>
                  <a:schemeClr val="dk1"/>
                </a:buClr>
              </a:pPr>
              <a:endParaRPr lang="en-US" sz="1800" dirty="0">
                <a:latin typeface="Lato" panose="020F0502020204030203" pitchFamily="34" charset="0"/>
                <a:ea typeface="Lato" panose="020F0502020204030203" pitchFamily="34" charset="0"/>
                <a:cs typeface="Lato" panose="020F0502020204030203" pitchFamily="34" charset="0"/>
              </a:endParaRPr>
            </a:p>
            <a:p>
              <a:pPr marL="0" lvl="0" indent="0" algn="l" rtl="0">
                <a:spcBef>
                  <a:spcPts val="0"/>
                </a:spcBef>
                <a:spcAft>
                  <a:spcPts val="0"/>
                </a:spcAft>
                <a:buClr>
                  <a:schemeClr val="dk1"/>
                </a:buClr>
                <a:buFont typeface="Arial"/>
                <a:buNone/>
              </a:pPr>
              <a:endParaRPr sz="1800" b="1" dirty="0">
                <a:solidFill>
                  <a:schemeClr val="dk1"/>
                </a:solidFill>
                <a:latin typeface="Lato"/>
                <a:ea typeface="Lato"/>
                <a:cs typeface="Lato"/>
                <a:sym typeface="Lato"/>
              </a:endParaRPr>
            </a:p>
          </p:txBody>
        </p:sp>
        <p:sp>
          <p:nvSpPr>
            <p:cNvPr id="139" name="Google Shape;139;p18"/>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Outdated Product</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r>
                <a:rPr lang="en-US" sz="1800" dirty="0">
                  <a:latin typeface="Lato" panose="020F0502020204030203" pitchFamily="34" charset="0"/>
                  <a:ea typeface="Lato" panose="020F0502020204030203" pitchFamily="34" charset="0"/>
                  <a:cs typeface="Lato" panose="020F0502020204030203" pitchFamily="34" charset="0"/>
                </a:rPr>
                <a:t>The product features might not be updated to match the market needs, leading to lost opportunities.</a:t>
              </a:r>
              <a:endParaRPr sz="1800"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p:txBody>
        </p:sp>
      </p:grpSp>
      <p:pic>
        <p:nvPicPr>
          <p:cNvPr id="7170" name="Picture 2">
            <a:extLst>
              <a:ext uri="{FF2B5EF4-FFF2-40B4-BE49-F238E27FC236}">
                <a16:creationId xmlns:a16="http://schemas.microsoft.com/office/drawing/2014/main" id="{FA6ED1F7-A857-8505-6778-ECC23B6FC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91263"/>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46" name="Google Shape;146;p19"/>
          <p:cNvGrpSpPr/>
          <p:nvPr/>
        </p:nvGrpSpPr>
        <p:grpSpPr>
          <a:xfrm>
            <a:off x="514664" y="2009465"/>
            <a:ext cx="11162675" cy="4593842"/>
            <a:chOff x="589265" y="4632481"/>
            <a:chExt cx="2041200" cy="229238"/>
          </a:xfrm>
        </p:grpSpPr>
        <p:sp>
          <p:nvSpPr>
            <p:cNvPr id="147" name="Google Shape;147;p19"/>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Sales team communication</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The sales team might not be explaining the product benefits clearly in the demo or gaining incomplete information about the services, leading to the lack of trust among clients and confuses them.</a:t>
              </a:r>
              <a:br>
                <a:rPr lang="en-US" sz="1800" dirty="0">
                  <a:latin typeface="Lato" panose="020F0502020204030203" pitchFamily="34" charset="0"/>
                  <a:ea typeface="Lato" panose="020F0502020204030203" pitchFamily="34" charset="0"/>
                  <a:cs typeface="Lato" panose="020F0502020204030203" pitchFamily="34" charset="0"/>
                </a:rPr>
              </a:br>
              <a:br>
                <a:rPr lang="en-US" sz="1800" dirty="0">
                  <a:latin typeface="Lato" panose="020F0502020204030203" pitchFamily="34" charset="0"/>
                  <a:ea typeface="Lato" panose="020F0502020204030203" pitchFamily="34" charset="0"/>
                  <a:cs typeface="Lato" panose="020F0502020204030203" pitchFamily="34" charset="0"/>
                </a:rPr>
              </a:br>
              <a:endParaRPr lang="en-US" sz="1800" dirty="0">
                <a:latin typeface="Lato" panose="020F0502020204030203" pitchFamily="34" charset="0"/>
                <a:ea typeface="Lato" panose="020F0502020204030203" pitchFamily="34" charset="0"/>
                <a:cs typeface="Lato" panose="020F0502020204030203" pitchFamily="34" charset="0"/>
              </a:endParaRPr>
            </a:p>
          </p:txBody>
        </p:sp>
        <p:sp>
          <p:nvSpPr>
            <p:cNvPr id="148" name="Google Shape;148;p19"/>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Lato"/>
                  <a:ea typeface="Lato"/>
                  <a:cs typeface="Lato"/>
                  <a:sym typeface="Lato"/>
                </a:rPr>
                <a:t>Competitor Influence</a:t>
              </a:r>
              <a:endParaRPr sz="2000" b="1" dirty="0"/>
            </a:p>
            <a:p>
              <a:pPr marL="0" marR="0" lvl="0" indent="0" algn="l" rtl="0">
                <a:lnSpc>
                  <a:spcPct val="100000"/>
                </a:lnSpc>
                <a:spcBef>
                  <a:spcPts val="0"/>
                </a:spcBef>
                <a:spcAft>
                  <a:spcPts val="0"/>
                </a:spcAft>
                <a:buNone/>
              </a:pPr>
              <a:r>
                <a:rPr lang="en-US" sz="1800" b="0" i="0" u="none" strike="noStrike" cap="none" dirty="0">
                  <a:solidFill>
                    <a:srgbClr val="000000"/>
                  </a:solidFill>
                  <a:latin typeface="Lato"/>
                  <a:ea typeface="Lato"/>
                  <a:cs typeface="Lato"/>
                  <a:sym typeface="Lato"/>
                </a:rPr>
                <a:t>Competitors might be providing discounts and better pricing  and making it more difficult for the team to convert clients.</a:t>
              </a:r>
              <a:endParaRPr sz="1800" b="0" i="0" u="none" strike="noStrike" cap="none" dirty="0">
                <a:solidFill>
                  <a:srgbClr val="000000"/>
                </a:solidFill>
                <a:latin typeface="Lato"/>
                <a:ea typeface="Lato"/>
                <a:cs typeface="Lato"/>
                <a:sym typeface="Lato"/>
              </a:endParaRPr>
            </a:p>
          </p:txBody>
        </p:sp>
      </p:grpSp>
      <p:pic>
        <p:nvPicPr>
          <p:cNvPr id="8194" name="Picture 2">
            <a:extLst>
              <a:ext uri="{FF2B5EF4-FFF2-40B4-BE49-F238E27FC236}">
                <a16:creationId xmlns:a16="http://schemas.microsoft.com/office/drawing/2014/main" id="{35EA2329-C095-3EB6-21B1-ABAE703CA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54693"/>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55" name="Google Shape;155;p20"/>
          <p:cNvGrpSpPr/>
          <p:nvPr/>
        </p:nvGrpSpPr>
        <p:grpSpPr>
          <a:xfrm>
            <a:off x="514664" y="2009465"/>
            <a:ext cx="11162675" cy="4593842"/>
            <a:chOff x="589265" y="4632481"/>
            <a:chExt cx="2041200" cy="229238"/>
          </a:xfrm>
        </p:grpSpPr>
        <p:sp>
          <p:nvSpPr>
            <p:cNvPr id="156" name="Google Shape;156;p20"/>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Lead Qualification</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We may be talking to leads who are not the right fit for purchase. The lead budget might be too small or not have the authority to decide leading to fail in conversion.</a:t>
              </a:r>
            </a:p>
            <a:p>
              <a:pPr marL="0" marR="0" lvl="0" indent="0" algn="l" rtl="0">
                <a:lnSpc>
                  <a:spcPct val="100000"/>
                </a:lnSpc>
                <a:spcBef>
                  <a:spcPts val="0"/>
                </a:spcBef>
                <a:spcAft>
                  <a:spcPts val="0"/>
                </a:spcAft>
                <a:buNone/>
              </a:pPr>
              <a:endParaRPr sz="1100"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157" name="Google Shape;157;p20"/>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Follow-ups</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Due to the delays in follow-up may cause potential clients to lose interest or some leads might not even getting any follow ups for many days after a demo.</a:t>
              </a:r>
            </a:p>
          </p:txBody>
        </p:sp>
      </p:grpSp>
      <p:pic>
        <p:nvPicPr>
          <p:cNvPr id="9218" name="Picture 2">
            <a:extLst>
              <a:ext uri="{FF2B5EF4-FFF2-40B4-BE49-F238E27FC236}">
                <a16:creationId xmlns:a16="http://schemas.microsoft.com/office/drawing/2014/main" id="{F89BEE96-A29C-962D-97A0-A751930F3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7113"/>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64" name="Google Shape;164;p21"/>
          <p:cNvGrpSpPr/>
          <p:nvPr/>
        </p:nvGrpSpPr>
        <p:grpSpPr>
          <a:xfrm>
            <a:off x="514664" y="2009465"/>
            <a:ext cx="11162675" cy="4593842"/>
            <a:chOff x="589265" y="4632481"/>
            <a:chExt cx="2041200" cy="229238"/>
          </a:xfrm>
        </p:grpSpPr>
        <p:sp>
          <p:nvSpPr>
            <p:cNvPr id="165" name="Google Shape;165;p21"/>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Poor Lead Targeting</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The marketing is not reaching the right audience due to using the wrong marketing channels. Due to cost cutting the company mostly relying on telemarketing </a:t>
              </a:r>
              <a:r>
                <a:rPr lang="en-US" sz="1800" dirty="0" err="1">
                  <a:latin typeface="Lato" panose="020F0502020204030203" pitchFamily="34" charset="0"/>
                  <a:ea typeface="Lato" panose="020F0502020204030203" pitchFamily="34" charset="0"/>
                  <a:cs typeface="Lato" panose="020F0502020204030203" pitchFamily="34" charset="0"/>
                </a:rPr>
                <a:t>intsead</a:t>
              </a:r>
              <a:r>
                <a:rPr lang="en-US" sz="1800" dirty="0">
                  <a:latin typeface="Lato" panose="020F0502020204030203" pitchFamily="34" charset="0"/>
                  <a:ea typeface="Lato" panose="020F0502020204030203" pitchFamily="34" charset="0"/>
                  <a:cs typeface="Lato" panose="020F0502020204030203" pitchFamily="34" charset="0"/>
                </a:rPr>
                <a:t> of targeting high potential clients.</a:t>
              </a:r>
            </a:p>
          </p:txBody>
        </p:sp>
        <p:sp>
          <p:nvSpPr>
            <p:cNvPr id="166" name="Google Shape;166;p21"/>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Small Team</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Due to cost cutting , company keeping a small team which may be slowing down the process and the team is not able to handle the high load of work leading to the low conversion.</a:t>
              </a:r>
            </a:p>
          </p:txBody>
        </p:sp>
      </p:grpSp>
      <p:pic>
        <p:nvPicPr>
          <p:cNvPr id="10242" name="Picture 2">
            <a:extLst>
              <a:ext uri="{FF2B5EF4-FFF2-40B4-BE49-F238E27FC236}">
                <a16:creationId xmlns:a16="http://schemas.microsoft.com/office/drawing/2014/main" id="{680BC2A1-2D92-559D-C29D-A3D84CB48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6040"/>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73" name="Google Shape;173;p22"/>
          <p:cNvGrpSpPr/>
          <p:nvPr/>
        </p:nvGrpSpPr>
        <p:grpSpPr>
          <a:xfrm>
            <a:off x="514664" y="2009465"/>
            <a:ext cx="11162675" cy="4593842"/>
            <a:chOff x="589265" y="4632481"/>
            <a:chExt cx="2041200" cy="229238"/>
          </a:xfrm>
        </p:grpSpPr>
        <p:sp>
          <p:nvSpPr>
            <p:cNvPr id="174" name="Google Shape;174;p22"/>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Pricing &amp; Negotiation Issues</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Our pricing or negotiation approach may be unclear to clients.</a:t>
              </a:r>
            </a:p>
          </p:txBody>
        </p:sp>
        <p:sp>
          <p:nvSpPr>
            <p:cNvPr id="175" name="Google Shape;175;p22"/>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dirty="0">
                  <a:latin typeface="Lato" panose="020F0502020204030203" pitchFamily="34" charset="0"/>
                  <a:ea typeface="Lato" panose="020F0502020204030203" pitchFamily="34" charset="0"/>
                  <a:cs typeface="Lato" panose="020F0502020204030203" pitchFamily="34" charset="0"/>
                </a:rPr>
                <a:t>Customer Needs Have Changed</a:t>
              </a:r>
              <a:endParaRPr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r>
                <a:rPr lang="en-US" sz="1800" dirty="0">
                  <a:latin typeface="Lato" panose="020F0502020204030203" pitchFamily="34" charset="0"/>
                  <a:ea typeface="Lato" panose="020F0502020204030203" pitchFamily="34" charset="0"/>
                  <a:cs typeface="Lato" panose="020F0502020204030203" pitchFamily="34" charset="0"/>
                </a:rPr>
                <a:t>Clients’ needs have changed now as there are no major updates happened recently from past 3 quarters.</a:t>
              </a:r>
            </a:p>
          </p:txBody>
        </p:sp>
      </p:grpSp>
      <p:pic>
        <p:nvPicPr>
          <p:cNvPr id="11266" name="Picture 2">
            <a:extLst>
              <a:ext uri="{FF2B5EF4-FFF2-40B4-BE49-F238E27FC236}">
                <a16:creationId xmlns:a16="http://schemas.microsoft.com/office/drawing/2014/main" id="{928997EA-048D-3C7E-C58E-CC17D7F4F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4634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82" name="Google Shape;182;p23"/>
          <p:cNvSpPr txBox="1"/>
          <p:nvPr/>
        </p:nvSpPr>
        <p:spPr>
          <a:xfrm>
            <a:off x="563498" y="1806833"/>
            <a:ext cx="2404555" cy="446276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t>Technology Primary</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
        <p:nvSpPr>
          <p:cNvPr id="183" name="Google Shape;183;p23"/>
          <p:cNvSpPr txBox="1"/>
          <p:nvPr/>
        </p:nvSpPr>
        <p:spPr>
          <a:xfrm>
            <a:off x="3287056" y="1806833"/>
            <a:ext cx="5542151" cy="446276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Insights if any</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t>ERP Implementation has the highest total number of Won opportunities (11,629).</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t>Analytics has the highest conversion rate (26%) but the total number of opportunities are low.</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
        <p:nvSpPr>
          <p:cNvPr id="184" name="Google Shape;184;p23"/>
          <p:cNvSpPr txBox="1"/>
          <p:nvPr/>
        </p:nvSpPr>
        <p:spPr>
          <a:xfrm>
            <a:off x="9148210" y="1806833"/>
            <a:ext cx="2794416" cy="446276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Pattern of Insight</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t>ERP Implementation is performing better in sales conversion.</a:t>
            </a:r>
          </a:p>
          <a:p>
            <a:pPr marL="0" marR="0" lvl="0" indent="0" algn="l" rtl="0">
              <a:lnSpc>
                <a:spcPct val="100000"/>
              </a:lnSpc>
              <a:spcBef>
                <a:spcPts val="0"/>
              </a:spcBef>
              <a:spcAft>
                <a:spcPts val="0"/>
              </a:spcAft>
              <a:buNone/>
            </a:pPr>
            <a:endParaRPr lang="en-US" dirty="0"/>
          </a:p>
          <a:p>
            <a:pPr marL="0" marR="0" lvl="0" indent="0" algn="l" rtl="0">
              <a:lnSpc>
                <a:spcPct val="100000"/>
              </a:lnSpc>
              <a:spcBef>
                <a:spcPts val="0"/>
              </a:spcBef>
              <a:spcAft>
                <a:spcPts val="0"/>
              </a:spcAft>
              <a:buNone/>
            </a:pPr>
            <a:r>
              <a:rPr lang="en-US" dirty="0"/>
              <a:t>Legacy Modernization has lowest conversion rate with just 12%.</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2290" name="Picture 2">
            <a:extLst>
              <a:ext uri="{FF2B5EF4-FFF2-40B4-BE49-F238E27FC236}">
                <a16:creationId xmlns:a16="http://schemas.microsoft.com/office/drawing/2014/main" id="{29A453A5-9E4B-B0D7-2E35-D7F07AA5A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49406"/>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91" name="Google Shape;191;p24"/>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rPr>
              <a:t>Variable under  consideration: Technology Primary</a:t>
            </a:r>
            <a:endParaRPr lang="en-US" sz="2000" dirty="0">
              <a:latin typeface="Lato" panose="020F0502020204030203" pitchFamily="34" charset="0"/>
              <a:ea typeface="Lato" panose="020F0502020204030203" pitchFamily="34" charset="0"/>
              <a:cs typeface="Lato" panose="020F0502020204030203" pitchFamily="34" charset="0"/>
            </a:endParaRPr>
          </a:p>
          <a:p>
            <a:pPr marL="0" marR="0" lvl="0" indent="0" algn="l" rtl="0">
              <a:lnSpc>
                <a:spcPct val="100000"/>
              </a:lnSpc>
              <a:spcBef>
                <a:spcPts val="0"/>
              </a:spcBef>
              <a:spcAft>
                <a:spcPts val="0"/>
              </a:spcAft>
              <a:buNone/>
            </a:pPr>
            <a:endParaRPr lang="en-US" sz="1600" dirty="0"/>
          </a:p>
          <a:p>
            <a:pPr marL="0" marR="0" lvl="0" indent="0" algn="l" rtl="0">
              <a:lnSpc>
                <a:spcPct val="100000"/>
              </a:lnSpc>
              <a:spcBef>
                <a:spcPts val="0"/>
              </a:spcBef>
              <a:spcAft>
                <a:spcPts val="0"/>
              </a:spcAft>
              <a:buNone/>
            </a:pPr>
            <a:r>
              <a:rPr lang="en-US" sz="1600" dirty="0">
                <a:latin typeface="Lato" panose="020F0502020204030203" pitchFamily="34" charset="0"/>
                <a:ea typeface="Lato" panose="020F0502020204030203" pitchFamily="34" charset="0"/>
                <a:cs typeface="Lato" panose="020F0502020204030203" pitchFamily="34" charset="0"/>
              </a:rPr>
              <a:t>In a pivot table where Technology Primary was in rows and Opportunity status was in columns. Then conversion rate of Won was calculated based on the total leads generated.</a:t>
            </a:r>
          </a:p>
          <a:p>
            <a:pPr marL="0" marR="0" lvl="0" indent="0" algn="l" rtl="0">
              <a:lnSpc>
                <a:spcPct val="100000"/>
              </a:lnSpc>
              <a:spcBef>
                <a:spcPts val="0"/>
              </a:spcBef>
              <a:spcAft>
                <a:spcPts val="0"/>
              </a:spcAft>
              <a:buNone/>
            </a:pPr>
            <a:r>
              <a:rPr lang="en-US" sz="1600" dirty="0">
                <a:latin typeface="Lato" panose="020F0502020204030203" pitchFamily="34" charset="0"/>
                <a:ea typeface="Lato" panose="020F0502020204030203" pitchFamily="34" charset="0"/>
                <a:cs typeface="Lato" panose="020F0502020204030203" pitchFamily="34" charset="0"/>
              </a:rPr>
              <a:t>That was calculated as = count of won’s / Grand total.</a:t>
            </a:r>
          </a:p>
          <a:p>
            <a:pPr marL="0" marR="0" lvl="0" indent="0" algn="l" rtl="0">
              <a:lnSpc>
                <a:spcPct val="100000"/>
              </a:lnSpc>
              <a:spcBef>
                <a:spcPts val="0"/>
              </a:spcBef>
              <a:spcAft>
                <a:spcPts val="0"/>
              </a:spcAft>
              <a:buNone/>
            </a:pPr>
            <a:r>
              <a:rPr lang="en-US" sz="1600" dirty="0">
                <a:latin typeface="Lato" panose="020F0502020204030203" pitchFamily="34" charset="0"/>
                <a:ea typeface="Lato" panose="020F0502020204030203" pitchFamily="34" charset="0"/>
                <a:cs typeface="Lato" panose="020F0502020204030203" pitchFamily="34" charset="0"/>
              </a:rPr>
              <a:t>Which shows Analytics has the highest conversion rate with 26% and Legacy Modernization has the lowest with just 12%.</a:t>
            </a:r>
            <a:br>
              <a:rPr lang="en-US" sz="1600" dirty="0">
                <a:latin typeface="Lato" panose="020F0502020204030203" pitchFamily="34" charset="0"/>
                <a:ea typeface="Lato" panose="020F0502020204030203" pitchFamily="34" charset="0"/>
                <a:cs typeface="Lato" panose="020F0502020204030203" pitchFamily="34" charset="0"/>
              </a:rPr>
            </a:br>
            <a:r>
              <a:rPr lang="en-US" sz="1600" dirty="0">
                <a:latin typeface="Lato" panose="020F0502020204030203" pitchFamily="34" charset="0"/>
                <a:ea typeface="Lato" panose="020F0502020204030203" pitchFamily="34" charset="0"/>
                <a:cs typeface="Lato" panose="020F0502020204030203" pitchFamily="34" charset="0"/>
              </a:rPr>
              <a:t>ERP Implementation has the highest total count of won (11,629) which means that ERP is converting more no. of leads than any other category even though Analytics has the highest conversion rate ERP Implementation seems more profitable. The lowest conversion rate is in Legacy Modernization as others are just fine. The category showing more wins is not the one with the highest conversion rate.</a:t>
            </a:r>
          </a:p>
          <a:p>
            <a:pPr marL="0" marR="0" lvl="0" indent="0" algn="l" rtl="0">
              <a:lnSpc>
                <a:spcPct val="100000"/>
              </a:lnSpc>
              <a:spcBef>
                <a:spcPts val="0"/>
              </a:spcBef>
              <a:spcAft>
                <a:spcPts val="0"/>
              </a:spcAft>
              <a:buNone/>
            </a:pPr>
            <a:r>
              <a:rPr lang="en-US" sz="1600" dirty="0">
                <a:latin typeface="Lato" panose="020F0502020204030203" pitchFamily="34" charset="0"/>
                <a:ea typeface="Lato" panose="020F0502020204030203" pitchFamily="34" charset="0"/>
                <a:cs typeface="Lato" panose="020F0502020204030203" pitchFamily="34" charset="0"/>
              </a:rPr>
              <a:t>Pattern of insight: Surprising Comparison. </a:t>
            </a: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3314" name="Picture 2">
            <a:extLst>
              <a:ext uri="{FF2B5EF4-FFF2-40B4-BE49-F238E27FC236}">
                <a16:creationId xmlns:a16="http://schemas.microsoft.com/office/drawing/2014/main" id="{7F3A8E89-B053-3C3B-6E31-2F97A66CA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92844"/>
            <a:ext cx="1524000" cy="7334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hart 5">
            <a:extLst>
              <a:ext uri="{FF2B5EF4-FFF2-40B4-BE49-F238E27FC236}">
                <a16:creationId xmlns:a16="http://schemas.microsoft.com/office/drawing/2014/main" id="{BB2523D8-06B6-4021-BB56-8715B1337E77}"/>
              </a:ext>
            </a:extLst>
          </p:cNvPr>
          <p:cNvGraphicFramePr>
            <a:graphicFrameLocks/>
          </p:cNvGraphicFramePr>
          <p:nvPr>
            <p:extLst>
              <p:ext uri="{D42A27DB-BD31-4B8C-83A1-F6EECF244321}">
                <p14:modId xmlns:p14="http://schemas.microsoft.com/office/powerpoint/2010/main" val="1732034519"/>
              </p:ext>
            </p:extLst>
          </p:nvPr>
        </p:nvGraphicFramePr>
        <p:xfrm>
          <a:off x="6303674" y="4230717"/>
          <a:ext cx="5050126" cy="2400230"/>
        </p:xfrm>
        <a:graphic>
          <a:graphicData uri="http://schemas.openxmlformats.org/drawingml/2006/chart">
            <c:chart xmlns:c="http://schemas.openxmlformats.org/drawingml/2006/chart" xmlns:r="http://schemas.openxmlformats.org/officeDocument/2006/relationships" r:id="rId4"/>
          </a:graphicData>
        </a:graphic>
      </p:graphicFrame>
      <p:pic>
        <p:nvPicPr>
          <p:cNvPr id="3" name="Picture 2">
            <a:extLst>
              <a:ext uri="{FF2B5EF4-FFF2-40B4-BE49-F238E27FC236}">
                <a16:creationId xmlns:a16="http://schemas.microsoft.com/office/drawing/2014/main" id="{2EB7670D-B5D8-4B2F-B742-FBA93F5A7499}"/>
              </a:ext>
            </a:extLst>
          </p:cNvPr>
          <p:cNvPicPr>
            <a:picLocks noChangeAspect="1"/>
          </p:cNvPicPr>
          <p:nvPr/>
        </p:nvPicPr>
        <p:blipFill>
          <a:blip r:embed="rId5"/>
          <a:stretch>
            <a:fillRect/>
          </a:stretch>
        </p:blipFill>
        <p:spPr>
          <a:xfrm>
            <a:off x="642786" y="4727191"/>
            <a:ext cx="5245542" cy="19037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98" name="Google Shape;198;p25"/>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Lato"/>
                <a:ea typeface="Lato"/>
                <a:cs typeface="Lato"/>
                <a:sym typeface="Lato"/>
              </a:rPr>
              <a:t>Variable under  consideration: B2B Sales Medium</a:t>
            </a:r>
          </a:p>
          <a:p>
            <a:pPr marL="0" marR="0" lvl="0" indent="0" algn="l" rtl="0">
              <a:lnSpc>
                <a:spcPct val="100000"/>
              </a:lnSpc>
              <a:spcBef>
                <a:spcPts val="0"/>
              </a:spcBef>
              <a:spcAft>
                <a:spcPts val="0"/>
              </a:spcAft>
              <a:buNone/>
            </a:pPr>
            <a:endParaRPr lang="en-US" sz="1800" b="1" dirty="0">
              <a:latin typeface="Lato"/>
              <a:ea typeface="Lato"/>
              <a:cs typeface="Lato"/>
              <a:sym typeface="Lato"/>
            </a:endParaRPr>
          </a:p>
          <a:p>
            <a:pPr marL="0" marR="0" lvl="0" indent="0" algn="l" rtl="0">
              <a:lnSpc>
                <a:spcPct val="100000"/>
              </a:lnSpc>
              <a:spcBef>
                <a:spcPts val="0"/>
              </a:spcBef>
              <a:spcAft>
                <a:spcPts val="0"/>
              </a:spcAft>
              <a:buNone/>
            </a:pPr>
            <a:r>
              <a:rPr lang="en-US" sz="1600" dirty="0">
                <a:latin typeface="Lato" panose="020F0502020204030203" pitchFamily="34" charset="0"/>
                <a:ea typeface="Lato" panose="020F0502020204030203" pitchFamily="34" charset="0"/>
                <a:cs typeface="Lato" panose="020F0502020204030203" pitchFamily="34" charset="0"/>
              </a:rPr>
              <a:t>Here with the help of Pivot table best and worst conversion rate is calculated of all the market channels. Where Enterprise Sellers has the conversion rate with 28% and Online leads has the lowest conversion rate with 6%. </a:t>
            </a:r>
            <a:br>
              <a:rPr lang="en-US" sz="1600" dirty="0">
                <a:latin typeface="Lato" panose="020F0502020204030203" pitchFamily="34" charset="0"/>
                <a:ea typeface="Lato" panose="020F0502020204030203" pitchFamily="34" charset="0"/>
                <a:cs typeface="Lato" panose="020F0502020204030203" pitchFamily="34" charset="0"/>
              </a:rPr>
            </a:br>
            <a:r>
              <a:rPr lang="en-US" sz="1600" dirty="0">
                <a:latin typeface="Lato" panose="020F0502020204030203" pitchFamily="34" charset="0"/>
                <a:ea typeface="Lato" panose="020F0502020204030203" pitchFamily="34" charset="0"/>
                <a:cs typeface="Lato" panose="020F0502020204030203" pitchFamily="34" charset="0"/>
              </a:rPr>
              <a:t>Which shows that the online leads channel is not performing well. Enterprise sellers is the highest performing channel and working best for the company. </a:t>
            </a:r>
            <a:r>
              <a:rPr lang="en-US" sz="1600" dirty="0">
                <a:latin typeface="Lato" panose="020F0502020204030203" pitchFamily="34" charset="0"/>
                <a:ea typeface="Lato" panose="020F0502020204030203" pitchFamily="34" charset="0"/>
                <a:cs typeface="Lato" panose="020F0502020204030203" pitchFamily="34" charset="0"/>
                <a:sym typeface="Lato"/>
              </a:rPr>
              <a:t>There’s a huge gap between the top performing and the worst performing channels.</a:t>
            </a:r>
            <a:endParaRPr lang="en-US" sz="1600" dirty="0">
              <a:latin typeface="Lato" panose="020F0502020204030203" pitchFamily="34" charset="0"/>
              <a:ea typeface="Lato" panose="020F0502020204030203" pitchFamily="34" charset="0"/>
              <a:cs typeface="Lato" panose="020F0502020204030203" pitchFamily="34" charset="0"/>
            </a:endParaRPr>
          </a:p>
          <a:p>
            <a:pPr marL="0" marR="0" lvl="0" indent="0" algn="l" rtl="0">
              <a:lnSpc>
                <a:spcPct val="100000"/>
              </a:lnSpc>
              <a:spcBef>
                <a:spcPts val="0"/>
              </a:spcBef>
              <a:spcAft>
                <a:spcPts val="0"/>
              </a:spcAft>
              <a:buNone/>
            </a:pPr>
            <a:r>
              <a:rPr lang="en-US" sz="1600" dirty="0">
                <a:latin typeface="Lato" panose="020F0502020204030203" pitchFamily="34" charset="0"/>
                <a:ea typeface="Lato" panose="020F0502020204030203" pitchFamily="34" charset="0"/>
                <a:cs typeface="Lato" panose="020F0502020204030203" pitchFamily="34" charset="0"/>
                <a:sym typeface="Lato"/>
              </a:rPr>
              <a:t>Pattern of insight- Surprising extreme.</a:t>
            </a:r>
            <a:br>
              <a:rPr lang="en-US" sz="1600" dirty="0">
                <a:latin typeface="Lato" panose="020F0502020204030203" pitchFamily="34" charset="0"/>
                <a:ea typeface="Lato" panose="020F0502020204030203" pitchFamily="34" charset="0"/>
                <a:cs typeface="Lato" panose="020F0502020204030203" pitchFamily="34" charset="0"/>
                <a:sym typeface="Lato"/>
              </a:rPr>
            </a:br>
            <a:endParaRPr sz="1400"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4338" name="Picture 2">
            <a:extLst>
              <a:ext uri="{FF2B5EF4-FFF2-40B4-BE49-F238E27FC236}">
                <a16:creationId xmlns:a16="http://schemas.microsoft.com/office/drawing/2014/main" id="{F785A75E-0215-3429-9B75-22D028B47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0" y="92845"/>
            <a:ext cx="1524000" cy="7334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hart 5">
            <a:extLst>
              <a:ext uri="{FF2B5EF4-FFF2-40B4-BE49-F238E27FC236}">
                <a16:creationId xmlns:a16="http://schemas.microsoft.com/office/drawing/2014/main" id="{CA83EEAF-4D5D-4104-97AE-9B8529ABDE92}"/>
              </a:ext>
            </a:extLst>
          </p:cNvPr>
          <p:cNvGraphicFramePr>
            <a:graphicFrameLocks/>
          </p:cNvGraphicFramePr>
          <p:nvPr>
            <p:extLst>
              <p:ext uri="{D42A27DB-BD31-4B8C-83A1-F6EECF244321}">
                <p14:modId xmlns:p14="http://schemas.microsoft.com/office/powerpoint/2010/main" val="3013091434"/>
              </p:ext>
            </p:extLst>
          </p:nvPr>
        </p:nvGraphicFramePr>
        <p:xfrm>
          <a:off x="480391" y="3856383"/>
          <a:ext cx="4572000" cy="2743200"/>
        </p:xfrm>
        <a:graphic>
          <a:graphicData uri="http://schemas.openxmlformats.org/drawingml/2006/chart">
            <c:chart xmlns:c="http://schemas.openxmlformats.org/drawingml/2006/chart" xmlns:r="http://schemas.openxmlformats.org/officeDocument/2006/relationships" r:id="rId4"/>
          </a:graphicData>
        </a:graphic>
      </p:graphicFrame>
      <p:pic>
        <p:nvPicPr>
          <p:cNvPr id="9" name="Picture 8">
            <a:extLst>
              <a:ext uri="{FF2B5EF4-FFF2-40B4-BE49-F238E27FC236}">
                <a16:creationId xmlns:a16="http://schemas.microsoft.com/office/drawing/2014/main" id="{F7591099-1D6F-40BC-BA31-7C5AEC4D727F}"/>
              </a:ext>
            </a:extLst>
          </p:cNvPr>
          <p:cNvPicPr>
            <a:picLocks noChangeAspect="1"/>
          </p:cNvPicPr>
          <p:nvPr/>
        </p:nvPicPr>
        <p:blipFill>
          <a:blip r:embed="rId5"/>
          <a:stretch>
            <a:fillRect/>
          </a:stretch>
        </p:blipFill>
        <p:spPr>
          <a:xfrm>
            <a:off x="5134784" y="4054917"/>
            <a:ext cx="6355228" cy="23461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05" name="Google Shape;205;p26"/>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Lato"/>
                <a:ea typeface="Lato"/>
                <a:cs typeface="Lato"/>
                <a:sym typeface="Lato"/>
              </a:rPr>
              <a:t>Variable under  consideration: Client Revenue Sizing</a:t>
            </a:r>
            <a:endParaRPr sz="2000"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Lato"/>
                <a:ea typeface="Lato"/>
                <a:cs typeface="Lato"/>
                <a:sym typeface="Lato"/>
              </a:rPr>
              <a:t>Clients having revenue less than or equal to 100K and 100K-250K have similar conversion rate (23%).</a:t>
            </a:r>
            <a:br>
              <a:rPr lang="en-US" sz="1600" dirty="0">
                <a:latin typeface="Lato"/>
                <a:ea typeface="Lato"/>
                <a:cs typeface="Lato"/>
                <a:sym typeface="Lato"/>
              </a:rPr>
            </a:br>
            <a:r>
              <a:rPr lang="en-US" sz="1600" dirty="0">
                <a:latin typeface="Lato"/>
                <a:ea typeface="Lato"/>
                <a:cs typeface="Lato"/>
                <a:sym typeface="Lato"/>
              </a:rPr>
              <a:t>The clients whose revenue size is greater than 1 million has the lowest conversion rate of 19%.</a:t>
            </a:r>
          </a:p>
          <a:p>
            <a:pPr marL="0" marR="0" lvl="0" indent="0" algn="l" rtl="0">
              <a:lnSpc>
                <a:spcPct val="100000"/>
              </a:lnSpc>
              <a:spcBef>
                <a:spcPts val="0"/>
              </a:spcBef>
              <a:spcAft>
                <a:spcPts val="0"/>
              </a:spcAft>
              <a:buNone/>
            </a:pPr>
            <a:r>
              <a:rPr lang="en-US" sz="1600" b="0" i="0" u="none" strike="noStrike" cap="none" dirty="0">
                <a:solidFill>
                  <a:srgbClr val="000000"/>
                </a:solidFill>
                <a:latin typeface="Lato"/>
                <a:ea typeface="Lato"/>
                <a:cs typeface="Lato"/>
                <a:sym typeface="Lato"/>
              </a:rPr>
              <a:t>Which </a:t>
            </a:r>
            <a:r>
              <a:rPr lang="en-US" sz="1600" dirty="0">
                <a:latin typeface="Lato"/>
                <a:ea typeface="Lato"/>
                <a:cs typeface="Lato"/>
                <a:sym typeface="Lato"/>
              </a:rPr>
              <a:t>shows the company sells more successfully to small and mid sized clients. The conversion rate decreases as revenue size increases.</a:t>
            </a:r>
          </a:p>
          <a:p>
            <a:pPr marL="0" marR="0" lvl="0" indent="0" algn="l" rtl="0">
              <a:lnSpc>
                <a:spcPct val="100000"/>
              </a:lnSpc>
              <a:spcBef>
                <a:spcPts val="0"/>
              </a:spcBef>
              <a:spcAft>
                <a:spcPts val="0"/>
              </a:spcAft>
              <a:buNone/>
            </a:pPr>
            <a:r>
              <a:rPr lang="en-US" sz="1600" b="0" i="0" u="none" strike="noStrike" cap="none" dirty="0">
                <a:solidFill>
                  <a:srgbClr val="000000"/>
                </a:solidFill>
                <a:latin typeface="Lato"/>
                <a:ea typeface="Lato"/>
                <a:cs typeface="Lato"/>
                <a:sym typeface="Lato"/>
              </a:rPr>
              <a:t>Pattern of insight: Abnormal distribution.</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5362" name="Picture 2">
            <a:extLst>
              <a:ext uri="{FF2B5EF4-FFF2-40B4-BE49-F238E27FC236}">
                <a16:creationId xmlns:a16="http://schemas.microsoft.com/office/drawing/2014/main" id="{BB860DAB-E166-8724-3A14-EFE41CD74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0459"/>
            <a:ext cx="1524000" cy="7334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hart 5">
            <a:extLst>
              <a:ext uri="{FF2B5EF4-FFF2-40B4-BE49-F238E27FC236}">
                <a16:creationId xmlns:a16="http://schemas.microsoft.com/office/drawing/2014/main" id="{E61450FE-01C9-4DE2-A143-7A50ADAD917C}"/>
              </a:ext>
            </a:extLst>
          </p:cNvPr>
          <p:cNvGraphicFramePr>
            <a:graphicFrameLocks/>
          </p:cNvGraphicFramePr>
          <p:nvPr>
            <p:extLst>
              <p:ext uri="{D42A27DB-BD31-4B8C-83A1-F6EECF244321}">
                <p14:modId xmlns:p14="http://schemas.microsoft.com/office/powerpoint/2010/main" val="3348411684"/>
              </p:ext>
            </p:extLst>
          </p:nvPr>
        </p:nvGraphicFramePr>
        <p:xfrm>
          <a:off x="540026" y="3568147"/>
          <a:ext cx="4737652" cy="2924727"/>
        </p:xfrm>
        <a:graphic>
          <a:graphicData uri="http://schemas.openxmlformats.org/drawingml/2006/chart">
            <c:chart xmlns:c="http://schemas.openxmlformats.org/drawingml/2006/chart" xmlns:r="http://schemas.openxmlformats.org/officeDocument/2006/relationships" r:id="rId4"/>
          </a:graphicData>
        </a:graphic>
      </p:graphicFrame>
      <p:pic>
        <p:nvPicPr>
          <p:cNvPr id="4" name="Picture 3">
            <a:extLst>
              <a:ext uri="{FF2B5EF4-FFF2-40B4-BE49-F238E27FC236}">
                <a16:creationId xmlns:a16="http://schemas.microsoft.com/office/drawing/2014/main" id="{2B4443AB-323D-4344-AAE2-0FA61F62B3B8}"/>
              </a:ext>
            </a:extLst>
          </p:cNvPr>
          <p:cNvPicPr>
            <a:picLocks noChangeAspect="1"/>
          </p:cNvPicPr>
          <p:nvPr/>
        </p:nvPicPr>
        <p:blipFill>
          <a:blip r:embed="rId5"/>
          <a:stretch>
            <a:fillRect/>
          </a:stretch>
        </p:blipFill>
        <p:spPr>
          <a:xfrm>
            <a:off x="5544795" y="3875003"/>
            <a:ext cx="5809005" cy="23110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12" name="Google Shape;212;p27"/>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Lato"/>
                <a:ea typeface="Lato"/>
                <a:cs typeface="Lato"/>
                <a:sym typeface="Lato"/>
              </a:rPr>
              <a:t>Variable under  consideration: Business from Last year.</a:t>
            </a:r>
            <a:endParaRPr sz="2000"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600" dirty="0">
                <a:latin typeface="Lato"/>
                <a:ea typeface="Lato"/>
                <a:cs typeface="Lato"/>
                <a:sym typeface="Lato"/>
              </a:rPr>
              <a:t>In this Clients with no 0 past business converted poorly with just 17% and Clients with 0-25K business converting extremely well with 83%.</a:t>
            </a:r>
          </a:p>
          <a:p>
            <a:pPr marL="0" marR="0" lvl="0" indent="0" algn="l" rtl="0">
              <a:lnSpc>
                <a:spcPct val="100000"/>
              </a:lnSpc>
              <a:spcBef>
                <a:spcPts val="0"/>
              </a:spcBef>
              <a:spcAft>
                <a:spcPts val="0"/>
              </a:spcAft>
              <a:buNone/>
            </a:pPr>
            <a:r>
              <a:rPr lang="en-US" sz="1600" b="0" i="0" u="none" strike="noStrike" cap="none" dirty="0">
                <a:solidFill>
                  <a:srgbClr val="000000"/>
                </a:solidFill>
                <a:latin typeface="Lato"/>
                <a:ea typeface="Lato"/>
                <a:cs typeface="Lato"/>
                <a:sym typeface="Lato"/>
              </a:rPr>
              <a:t>Which shows that the clients with no past business (new customers) converting poorly can be due to lack of trust and harder to gain new clients in comparison to the older ones. The existing customers but with small purchases 0-25K are converting extremely well. </a:t>
            </a: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6386" name="Picture 2">
            <a:extLst>
              <a:ext uri="{FF2B5EF4-FFF2-40B4-BE49-F238E27FC236}">
                <a16:creationId xmlns:a16="http://schemas.microsoft.com/office/drawing/2014/main" id="{93C4F7DA-E0CD-10F1-2909-289B7A129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0459"/>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E8AB91F-C25F-4C98-8DA8-B5F20F62A95D}"/>
              </a:ext>
            </a:extLst>
          </p:cNvPr>
          <p:cNvPicPr>
            <a:picLocks noChangeAspect="1"/>
          </p:cNvPicPr>
          <p:nvPr/>
        </p:nvPicPr>
        <p:blipFill>
          <a:blip r:embed="rId4"/>
          <a:stretch>
            <a:fillRect/>
          </a:stretch>
        </p:blipFill>
        <p:spPr>
          <a:xfrm>
            <a:off x="5991069" y="4230717"/>
            <a:ext cx="5514494" cy="2108483"/>
          </a:xfrm>
          <a:prstGeom prst="rect">
            <a:avLst/>
          </a:prstGeom>
        </p:spPr>
      </p:pic>
      <p:graphicFrame>
        <p:nvGraphicFramePr>
          <p:cNvPr id="9" name="Chart 8">
            <a:extLst>
              <a:ext uri="{FF2B5EF4-FFF2-40B4-BE49-F238E27FC236}">
                <a16:creationId xmlns:a16="http://schemas.microsoft.com/office/drawing/2014/main" id="{F3A30789-2B57-4749-B049-08743201F97A}"/>
              </a:ext>
            </a:extLst>
          </p:cNvPr>
          <p:cNvGraphicFramePr>
            <a:graphicFrameLocks/>
          </p:cNvGraphicFramePr>
          <p:nvPr>
            <p:extLst>
              <p:ext uri="{D42A27DB-BD31-4B8C-83A1-F6EECF244321}">
                <p14:modId xmlns:p14="http://schemas.microsoft.com/office/powerpoint/2010/main" val="3650262548"/>
              </p:ext>
            </p:extLst>
          </p:nvPr>
        </p:nvGraphicFramePr>
        <p:xfrm>
          <a:off x="510209" y="3913358"/>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19" name="Google Shape;219;p28"/>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Lato"/>
                <a:ea typeface="Lato"/>
                <a:cs typeface="Lato"/>
                <a:sym typeface="Lato"/>
              </a:rPr>
              <a:t>Variable under  consideration: Opportunity Sizing </a:t>
            </a:r>
            <a:endParaRPr sz="2000"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Lato"/>
                <a:ea typeface="Lato"/>
                <a:cs typeface="Lato"/>
                <a:sym typeface="Lato"/>
              </a:rPr>
              <a:t>Small opportunities (10K or less) have the highest conversion rate (40%) which suggests they are easier to convert. The mid sized </a:t>
            </a:r>
            <a:r>
              <a:rPr lang="en-US" sz="1600" dirty="0">
                <a:latin typeface="Lato"/>
                <a:ea typeface="Lato"/>
                <a:cs typeface="Lato"/>
                <a:sym typeface="Lato"/>
              </a:rPr>
              <a:t>opportunities (30K-50K) have the lowest conversion rate (12%-17%), whereas the very large opportunities (greater than 60K) are much better than mis sized with 21%.</a:t>
            </a: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7410" name="Picture 2">
            <a:extLst>
              <a:ext uri="{FF2B5EF4-FFF2-40B4-BE49-F238E27FC236}">
                <a16:creationId xmlns:a16="http://schemas.microsoft.com/office/drawing/2014/main" id="{4BF6E944-28CF-BD47-A0A3-381D593C3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0459"/>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64EB2AA-F8CB-44E7-8C24-249D5B175EEE}"/>
              </a:ext>
            </a:extLst>
          </p:cNvPr>
          <p:cNvPicPr>
            <a:picLocks noChangeAspect="1"/>
          </p:cNvPicPr>
          <p:nvPr/>
        </p:nvPicPr>
        <p:blipFill>
          <a:blip r:embed="rId4"/>
          <a:stretch>
            <a:fillRect/>
          </a:stretch>
        </p:blipFill>
        <p:spPr>
          <a:xfrm>
            <a:off x="5093970" y="3482731"/>
            <a:ext cx="6259830" cy="3194810"/>
          </a:xfrm>
          <a:prstGeom prst="rect">
            <a:avLst/>
          </a:prstGeom>
        </p:spPr>
      </p:pic>
      <p:graphicFrame>
        <p:nvGraphicFramePr>
          <p:cNvPr id="9" name="Chart 8">
            <a:extLst>
              <a:ext uri="{FF2B5EF4-FFF2-40B4-BE49-F238E27FC236}">
                <a16:creationId xmlns:a16="http://schemas.microsoft.com/office/drawing/2014/main" id="{896910D0-9344-426D-983F-1633B18E921A}"/>
              </a:ext>
            </a:extLst>
          </p:cNvPr>
          <p:cNvGraphicFramePr>
            <a:graphicFrameLocks/>
          </p:cNvGraphicFramePr>
          <p:nvPr>
            <p:extLst>
              <p:ext uri="{D42A27DB-BD31-4B8C-83A1-F6EECF244321}">
                <p14:modId xmlns:p14="http://schemas.microsoft.com/office/powerpoint/2010/main" val="2031366439"/>
              </p:ext>
            </p:extLst>
          </p:nvPr>
        </p:nvGraphicFramePr>
        <p:xfrm>
          <a:off x="521970" y="3708536"/>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26" name="Google Shape;226;p29"/>
          <p:cNvSpPr txBox="1"/>
          <p:nvPr/>
        </p:nvSpPr>
        <p:spPr>
          <a:xfrm>
            <a:off x="317188" y="1798905"/>
            <a:ext cx="4037836" cy="4555093"/>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Recommendations</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lvl="0"/>
            <a:r>
              <a:rPr lang="en-US" dirty="0">
                <a:latin typeface="Lato" panose="020F0502020204030203" pitchFamily="34" charset="0"/>
                <a:ea typeface="Lato" panose="020F0502020204030203" pitchFamily="34" charset="0"/>
                <a:cs typeface="Lato" panose="020F0502020204030203" pitchFamily="34" charset="0"/>
              </a:rPr>
              <a:t>Even though Analytics has the highest conversion rate ERP Implementation might be more profitable.</a:t>
            </a:r>
            <a:r>
              <a:rPr lang="en-US" b="1" dirty="0">
                <a:latin typeface="Lato" panose="020F0502020204030203" pitchFamily="34" charset="0"/>
                <a:ea typeface="Lato" panose="020F0502020204030203" pitchFamily="34" charset="0"/>
                <a:cs typeface="Lato" panose="020F0502020204030203" pitchFamily="34" charset="0"/>
                <a:sym typeface="Lato"/>
              </a:rPr>
              <a:t> </a:t>
            </a:r>
            <a:r>
              <a:rPr lang="en-US" dirty="0">
                <a:latin typeface="Lato" panose="020F0502020204030203" pitchFamily="34" charset="0"/>
                <a:ea typeface="Lato" panose="020F0502020204030203" pitchFamily="34" charset="0"/>
                <a:cs typeface="Lato" panose="020F0502020204030203" pitchFamily="34" charset="0"/>
              </a:rPr>
              <a:t>So, improving the ERP sales approach could give a big boost to total conversions.</a:t>
            </a:r>
          </a:p>
          <a:p>
            <a:pPr lvl="0"/>
            <a:endParaRPr lang="en-US" dirty="0">
              <a:latin typeface="Lato" panose="020F0502020204030203" pitchFamily="34" charset="0"/>
              <a:ea typeface="Lato" panose="020F0502020204030203" pitchFamily="34" charset="0"/>
              <a:cs typeface="Lato" panose="020F0502020204030203" pitchFamily="34" charset="0"/>
            </a:endParaRPr>
          </a:p>
          <a:p>
            <a:pPr lvl="0"/>
            <a:r>
              <a:rPr lang="en-US" dirty="0">
                <a:latin typeface="Lato" panose="020F0502020204030203" pitchFamily="34" charset="0"/>
                <a:ea typeface="Lato" panose="020F0502020204030203" pitchFamily="34" charset="0"/>
                <a:cs typeface="Lato" panose="020F0502020204030203" pitchFamily="34" charset="0"/>
              </a:rPr>
              <a:t>For low conversion sales medium such as online, needs to be improved or changed as it might be targeting the wrong audience.</a:t>
            </a:r>
          </a:p>
          <a:p>
            <a:pPr lvl="0"/>
            <a:endParaRPr lang="en-US" sz="1400" dirty="0">
              <a:latin typeface="Lato" panose="020F0502020204030203" pitchFamily="34" charset="0"/>
              <a:ea typeface="Lato" panose="020F0502020204030203" pitchFamily="34" charset="0"/>
              <a:cs typeface="Lato" panose="020F0502020204030203" pitchFamily="34" charset="0"/>
            </a:endParaRPr>
          </a:p>
          <a:p>
            <a:pPr lvl="0"/>
            <a:r>
              <a:rPr lang="en-US" dirty="0">
                <a:latin typeface="Lato" panose="020F0502020204030203" pitchFamily="34" charset="0"/>
                <a:ea typeface="Lato" panose="020F0502020204030203" pitchFamily="34" charset="0"/>
                <a:cs typeface="Lato" panose="020F0502020204030203" pitchFamily="34" charset="0"/>
              </a:rPr>
              <a:t>Large clients (high revenue size) and mid sized have low conversion rates. They may require better features or pricing.</a:t>
            </a:r>
            <a:endParaRPr lang="en-US" sz="1400" dirty="0">
              <a:latin typeface="Lato" panose="020F0502020204030203" pitchFamily="34" charset="0"/>
              <a:ea typeface="Lato" panose="020F0502020204030203" pitchFamily="34" charset="0"/>
              <a:cs typeface="Lato" panose="020F0502020204030203" pitchFamily="34" charset="0"/>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sym typeface="Lato"/>
              </a:rPr>
              <a:t>The more focus should be on the small amount of deals as these show highest conversion rate and easier to close.</a:t>
            </a:r>
            <a:endParaRPr lang="en-US" sz="1400"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0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sz="1000" b="1" i="0" u="none" strike="noStrike" cap="none" dirty="0">
              <a:solidFill>
                <a:srgbClr val="000000"/>
              </a:solidFill>
              <a:latin typeface="Lato"/>
              <a:ea typeface="Lato"/>
              <a:cs typeface="Lato"/>
              <a:sym typeface="Lato"/>
            </a:endParaRPr>
          </a:p>
        </p:txBody>
      </p:sp>
      <p:sp>
        <p:nvSpPr>
          <p:cNvPr id="227" name="Google Shape;227;p29"/>
          <p:cNvSpPr txBox="1"/>
          <p:nvPr/>
        </p:nvSpPr>
        <p:spPr>
          <a:xfrm>
            <a:off x="4494508" y="1800542"/>
            <a:ext cx="7206712" cy="4555093"/>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Corresponding Insights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rPr>
              <a:t>Technology Primary</a:t>
            </a: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ERP Implementation has highest number of wins but lower conversion rate than Analytics.</a:t>
            </a: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lang="en-US" dirty="0">
              <a:latin typeface="Lato" panose="020F0502020204030203" pitchFamily="34" charset="0"/>
              <a:ea typeface="Lato" panose="020F0502020204030203" pitchFamily="34" charset="0"/>
              <a:cs typeface="Lato" panose="020F0502020204030203" pitchFamily="34" charset="0"/>
            </a:endParaRP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B2B Sales Medium</a:t>
            </a: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Online leads have lowest conversion compared to other mediums.</a:t>
            </a: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Client Revenue Sizing</a:t>
            </a: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Conversion rate decreases sharply for large revenue clients.</a:t>
            </a: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a:p>
            <a:pPr marL="0" marR="0" lvl="0" indent="0" algn="l" rtl="0">
              <a:lnSpc>
                <a:spcPct val="100000"/>
              </a:lnSpc>
              <a:spcBef>
                <a:spcPts val="0"/>
              </a:spcBef>
              <a:spcAft>
                <a:spcPts val="0"/>
              </a:spcAft>
              <a:buNone/>
            </a:pPr>
            <a:endParaRPr lang="en-US" dirty="0">
              <a:latin typeface="Lato" panose="020F0502020204030203" pitchFamily="34" charset="0"/>
              <a:ea typeface="Lato" panose="020F0502020204030203" pitchFamily="34" charset="0"/>
              <a:cs typeface="Lato" panose="020F0502020204030203" pitchFamily="34" charset="0"/>
            </a:endParaRP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Opportunity Sizing</a:t>
            </a:r>
          </a:p>
          <a:p>
            <a:pPr marL="0" marR="0" lvl="0" indent="0" algn="l" rtl="0">
              <a:lnSpc>
                <a:spcPct val="100000"/>
              </a:lnSpc>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10K or less opportunities have highest conversion (40%) while 30K–50K are lowest (12%–17%).</a:t>
            </a:r>
            <a:endParaRPr b="0" i="0" u="none" strike="noStrike" cap="none" dirty="0">
              <a:solidFill>
                <a:srgbClr val="000000"/>
              </a:solidFill>
              <a:latin typeface="Lato" panose="020F0502020204030203" pitchFamily="34" charset="0"/>
              <a:ea typeface="Lato" panose="020F0502020204030203" pitchFamily="34" charset="0"/>
              <a:cs typeface="Lato" panose="020F0502020204030203" pitchFamily="34" charset="0"/>
              <a:sym typeface="Lato"/>
            </a:endParaRPr>
          </a:p>
        </p:txBody>
      </p:sp>
      <p:pic>
        <p:nvPicPr>
          <p:cNvPr id="18434" name="Picture 2">
            <a:extLst>
              <a:ext uri="{FF2B5EF4-FFF2-40B4-BE49-F238E27FC236}">
                <a16:creationId xmlns:a16="http://schemas.microsoft.com/office/drawing/2014/main" id="{3D40C618-BA10-CD34-D260-4DF5FE73C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5652"/>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0"/>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B : Presenting Findings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pic>
        <p:nvPicPr>
          <p:cNvPr id="19458" name="Picture 2">
            <a:extLst>
              <a:ext uri="{FF2B5EF4-FFF2-40B4-BE49-F238E27FC236}">
                <a16:creationId xmlns:a16="http://schemas.microsoft.com/office/drawing/2014/main" id="{EF515ECB-84C5-725D-6FBE-1DB708380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34521"/>
            <a:ext cx="1524000" cy="7334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377F48-E92F-459E-A47E-2D82674EBAE7}"/>
              </a:ext>
            </a:extLst>
          </p:cNvPr>
          <p:cNvSpPr txBox="1"/>
          <p:nvPr/>
        </p:nvSpPr>
        <p:spPr>
          <a:xfrm>
            <a:off x="518160" y="1701372"/>
            <a:ext cx="11155680" cy="5447645"/>
          </a:xfrm>
          <a:prstGeom prst="rect">
            <a:avLst/>
          </a:prstGeom>
          <a:noFill/>
        </p:spPr>
        <p:txBody>
          <a:bodyPr wrap="square" rtlCol="0">
            <a:spAutoFit/>
          </a:bodyPr>
          <a:lstStyle/>
          <a:p>
            <a:r>
              <a:rPr lang="en-US" sz="2000" b="1" dirty="0">
                <a:latin typeface="Lato" panose="020F0502020204030203" pitchFamily="34" charset="0"/>
                <a:ea typeface="Lato" panose="020F0502020204030203" pitchFamily="34" charset="0"/>
                <a:cs typeface="Lato" panose="020F0502020204030203" pitchFamily="34" charset="0"/>
              </a:rPr>
              <a:t>Improving Conversion Rate at </a:t>
            </a:r>
            <a:r>
              <a:rPr lang="en-US" sz="2000" b="1" dirty="0" err="1">
                <a:latin typeface="Lato" panose="020F0502020204030203" pitchFamily="34" charset="0"/>
                <a:ea typeface="Lato" panose="020F0502020204030203" pitchFamily="34" charset="0"/>
                <a:cs typeface="Lato" panose="020F0502020204030203" pitchFamily="34" charset="0"/>
              </a:rPr>
              <a:t>Technoserve</a:t>
            </a:r>
            <a:endParaRPr lang="en-US" sz="2000" b="1" dirty="0">
              <a:latin typeface="Lato" panose="020F0502020204030203" pitchFamily="34" charset="0"/>
              <a:ea typeface="Lato" panose="020F0502020204030203" pitchFamily="34" charset="0"/>
              <a:cs typeface="Lato" panose="020F0502020204030203" pitchFamily="34" charset="0"/>
            </a:endParaRPr>
          </a:p>
          <a:p>
            <a:endParaRPr lang="en-US" sz="2000" b="1" dirty="0"/>
          </a:p>
          <a:p>
            <a:r>
              <a:rPr lang="en-US" sz="1800" dirty="0">
                <a:latin typeface="Lato" panose="020F0502020204030203" pitchFamily="34" charset="0"/>
                <a:ea typeface="Lato" panose="020F0502020204030203" pitchFamily="34" charset="0"/>
                <a:cs typeface="Lato" panose="020F0502020204030203" pitchFamily="34" charset="0"/>
              </a:rPr>
              <a:t>Focus on high conversion segments and fix low performing categories to improve overall conversion from 23%-30% .</a:t>
            </a:r>
          </a:p>
          <a:p>
            <a:endParaRPr lang="en-US" sz="1800" b="1" dirty="0">
              <a:latin typeface="Lato" panose="020F0502020204030203" pitchFamily="34" charset="0"/>
              <a:ea typeface="Lato" panose="020F0502020204030203" pitchFamily="34" charset="0"/>
              <a:cs typeface="Lato" panose="020F0502020204030203" pitchFamily="34" charset="0"/>
            </a:endParaRPr>
          </a:p>
          <a:p>
            <a:r>
              <a:rPr lang="en-US" sz="1800" b="1" dirty="0" err="1">
                <a:latin typeface="Lato" panose="020F0502020204030203" pitchFamily="34" charset="0"/>
                <a:ea typeface="Lato" panose="020F0502020204030203" pitchFamily="34" charset="0"/>
                <a:cs typeface="Lato" panose="020F0502020204030203" pitchFamily="34" charset="0"/>
              </a:rPr>
              <a:t>Prioritise</a:t>
            </a:r>
            <a:r>
              <a:rPr lang="en-US" sz="1800" dirty="0">
                <a:latin typeface="Lato" panose="020F0502020204030203" pitchFamily="34" charset="0"/>
                <a:ea typeface="Lato" panose="020F0502020204030203" pitchFamily="34" charset="0"/>
                <a:cs typeface="Lato" panose="020F0502020204030203" pitchFamily="34" charset="0"/>
              </a:rPr>
              <a:t>: Small past business clients (0–25K), small opportunity size deals (≤10K), and Analytics technology segment for short-term wins.</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Fix</a:t>
            </a:r>
            <a:r>
              <a:rPr lang="en-US" sz="1800" dirty="0">
                <a:latin typeface="Lato" panose="020F0502020204030203" pitchFamily="34" charset="0"/>
                <a:ea typeface="Lato" panose="020F0502020204030203" pitchFamily="34" charset="0"/>
                <a:cs typeface="Lato" panose="020F0502020204030203" pitchFamily="34" charset="0"/>
              </a:rPr>
              <a:t>: Mid sized opportunities (30K–50K), large revenue size clients (&gt;100,000), and low performing cities like Pune.</a:t>
            </a:r>
            <a:endParaRPr lang="en-US" sz="1800" b="1" dirty="0">
              <a:latin typeface="Lato" panose="020F0502020204030203" pitchFamily="34" charset="0"/>
              <a:ea typeface="Lato" panose="020F0502020204030203" pitchFamily="34" charset="0"/>
              <a:cs typeface="Lato" panose="020F0502020204030203" pitchFamily="34" charset="0"/>
            </a:endParaRPr>
          </a:p>
          <a:p>
            <a:endParaRPr lang="en-US" sz="1800" b="1"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Improve</a:t>
            </a:r>
            <a:r>
              <a:rPr lang="en-US" sz="1800" dirty="0">
                <a:latin typeface="Lato" panose="020F0502020204030203" pitchFamily="34" charset="0"/>
                <a:ea typeface="Lato" panose="020F0502020204030203" pitchFamily="34" charset="0"/>
                <a:cs typeface="Lato" panose="020F0502020204030203" pitchFamily="34" charset="0"/>
              </a:rPr>
              <a:t>: Online sales targeting to better reach high potential customers.</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dirty="0">
                <a:latin typeface="Lato" panose="020F0502020204030203" pitchFamily="34" charset="0"/>
                <a:ea typeface="Lato" panose="020F0502020204030203" pitchFamily="34" charset="0"/>
                <a:cs typeface="Lato" panose="020F0502020204030203" pitchFamily="34" charset="0"/>
              </a:rPr>
              <a:t>Reduce unnecessary sales iterations to close deals faster.</a:t>
            </a:r>
            <a:endParaRPr lang="en-US" sz="1800" b="1" dirty="0">
              <a:latin typeface="Lato" panose="020F0502020204030203" pitchFamily="34" charset="0"/>
              <a:ea typeface="Lato" panose="020F0502020204030203" pitchFamily="34" charset="0"/>
              <a:cs typeface="Lato" panose="020F0502020204030203" pitchFamily="34" charset="0"/>
            </a:endParaRPr>
          </a:p>
          <a:p>
            <a:endParaRPr lang="en-US" sz="1800" b="1" dirty="0">
              <a:latin typeface="Lato" panose="020F0502020204030203" pitchFamily="34" charset="0"/>
              <a:ea typeface="Lato" panose="020F0502020204030203" pitchFamily="34" charset="0"/>
              <a:cs typeface="Lato" panose="020F0502020204030203" pitchFamily="34" charset="0"/>
            </a:endParaRPr>
          </a:p>
          <a:p>
            <a:endParaRPr lang="en-US" sz="2000" b="1" dirty="0">
              <a:latin typeface="Lato" panose="020F0502020204030203" pitchFamily="34" charset="0"/>
              <a:ea typeface="Lato" panose="020F0502020204030203" pitchFamily="34" charset="0"/>
              <a:cs typeface="Lato" panose="020F0502020204030203" pitchFamily="34" charset="0"/>
            </a:endParaRPr>
          </a:p>
          <a:p>
            <a:endParaRPr lang="en-US" sz="2000" b="1" dirty="0">
              <a:latin typeface="Lato" panose="020F0502020204030203" pitchFamily="34" charset="0"/>
              <a:ea typeface="Lato" panose="020F0502020204030203" pitchFamily="34" charset="0"/>
              <a:cs typeface="Lato" panose="020F0502020204030203" pitchFamily="34" charset="0"/>
            </a:endParaRPr>
          </a:p>
          <a:p>
            <a:endParaRPr lang="en-US" sz="2000" b="1" dirty="0">
              <a:latin typeface="Lato" panose="020F0502020204030203" pitchFamily="34" charset="0"/>
              <a:ea typeface="Lato" panose="020F0502020204030203" pitchFamily="34" charset="0"/>
              <a:cs typeface="Lato" panose="020F0502020204030203" pitchFamily="34" charset="0"/>
            </a:endParaRP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1"/>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dirty="0">
                <a:solidFill>
                  <a:srgbClr val="EF413D"/>
                </a:solidFill>
              </a:rPr>
              <a:t>PART III B : Presenting Findings</a:t>
            </a:r>
            <a:br>
              <a:rPr lang="en-US" sz="3500" b="1" dirty="0">
                <a:solidFill>
                  <a:srgbClr val="EF413D"/>
                </a:solidFill>
              </a:rPr>
            </a:br>
            <a:r>
              <a:rPr lang="en-US" sz="1000" b="1" dirty="0">
                <a:solidFill>
                  <a:srgbClr val="EF413D"/>
                </a:solidFill>
              </a:rPr>
              <a:t> </a:t>
            </a:r>
            <a:br>
              <a:rPr lang="en-US" b="1" dirty="0"/>
            </a:br>
            <a:r>
              <a:rPr lang="en-US" sz="3000" dirty="0">
                <a:solidFill>
                  <a:srgbClr val="5A5A5A"/>
                </a:solidFill>
              </a:rPr>
              <a:t>Sales Pipeline Conversion at a SaaS Startup</a:t>
            </a:r>
            <a:endParaRPr sz="3000" dirty="0"/>
          </a:p>
        </p:txBody>
      </p:sp>
      <p:pic>
        <p:nvPicPr>
          <p:cNvPr id="20482" name="Picture 2">
            <a:extLst>
              <a:ext uri="{FF2B5EF4-FFF2-40B4-BE49-F238E27FC236}">
                <a16:creationId xmlns:a16="http://schemas.microsoft.com/office/drawing/2014/main" id="{5303A3C7-A05D-B132-48D4-069BA568F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34521"/>
            <a:ext cx="1524000" cy="7334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26E4918-4B19-45C2-8853-240DF67BBB80}"/>
              </a:ext>
            </a:extLst>
          </p:cNvPr>
          <p:cNvSpPr txBox="1"/>
          <p:nvPr/>
        </p:nvSpPr>
        <p:spPr>
          <a:xfrm>
            <a:off x="1246908" y="2094806"/>
            <a:ext cx="10106892" cy="3354765"/>
          </a:xfrm>
          <a:prstGeom prst="rect">
            <a:avLst/>
          </a:prstGeom>
          <a:noFill/>
        </p:spPr>
        <p:txBody>
          <a:bodyPr wrap="square" rtlCol="0">
            <a:spAutoFit/>
          </a:bodyPr>
          <a:lstStyle/>
          <a:p>
            <a:r>
              <a:rPr lang="en-US" sz="1800" b="1" dirty="0">
                <a:latin typeface="Lato" panose="020F0502020204030203" pitchFamily="34" charset="0"/>
                <a:ea typeface="Lato" panose="020F0502020204030203" pitchFamily="34" charset="0"/>
                <a:cs typeface="Lato" panose="020F0502020204030203" pitchFamily="34" charset="0"/>
              </a:rPr>
              <a:t>Segment Performances</a:t>
            </a:r>
            <a:r>
              <a:rPr lang="en-US" sz="1800" dirty="0">
                <a:latin typeface="Lato" panose="020F0502020204030203" pitchFamily="34" charset="0"/>
                <a:ea typeface="Lato" panose="020F0502020204030203" pitchFamily="34" charset="0"/>
                <a:cs typeface="Lato" panose="020F0502020204030203" pitchFamily="34" charset="0"/>
              </a:rPr>
              <a:t>: </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Best</a:t>
            </a:r>
            <a:r>
              <a:rPr lang="en-US" sz="1800" dirty="0">
                <a:latin typeface="Lato" panose="020F0502020204030203" pitchFamily="34" charset="0"/>
                <a:ea typeface="Lato" panose="020F0502020204030203" pitchFamily="34" charset="0"/>
                <a:cs typeface="Lato" panose="020F0502020204030203" pitchFamily="34" charset="0"/>
              </a:rPr>
              <a:t> – Analytics (26%), Mumbai (25%), ≤10K opportunities (40%), past business 0–25K (83%).</a:t>
            </a:r>
          </a:p>
          <a:p>
            <a:r>
              <a:rPr lang="en-US" sz="1800" b="1" dirty="0">
                <a:latin typeface="Lato" panose="020F0502020204030203" pitchFamily="34" charset="0"/>
                <a:ea typeface="Lato" panose="020F0502020204030203" pitchFamily="34" charset="0"/>
                <a:cs typeface="Lato" panose="020F0502020204030203" pitchFamily="34" charset="0"/>
              </a:rPr>
              <a:t>Worst</a:t>
            </a:r>
            <a:r>
              <a:rPr lang="en-US" sz="1800" dirty="0">
                <a:latin typeface="Lato" panose="020F0502020204030203" pitchFamily="34" charset="0"/>
                <a:ea typeface="Lato" panose="020F0502020204030203" pitchFamily="34" charset="0"/>
                <a:cs typeface="Lato" panose="020F0502020204030203" pitchFamily="34" charset="0"/>
              </a:rPr>
              <a:t> – Legacy Modernization (12%), Pune (19%), 30K–50K opportunities (12%–17%), no past business (17%).</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Sales Process</a:t>
            </a:r>
            <a:r>
              <a:rPr lang="en-US" sz="1800" dirty="0">
                <a:latin typeface="Lato" panose="020F0502020204030203" pitchFamily="34" charset="0"/>
                <a:ea typeface="Lato" panose="020F0502020204030203" pitchFamily="34" charset="0"/>
                <a:cs typeface="Lato" panose="020F0502020204030203" pitchFamily="34" charset="0"/>
              </a:rPr>
              <a:t>:</a:t>
            </a:r>
          </a:p>
          <a:p>
            <a:r>
              <a:rPr lang="en-US" sz="1800" dirty="0">
                <a:latin typeface="Lato" panose="020F0502020204030203" pitchFamily="34" charset="0"/>
                <a:ea typeface="Lato" panose="020F0502020204030203" pitchFamily="34" charset="0"/>
                <a:cs typeface="Lato" panose="020F0502020204030203" pitchFamily="34" charset="0"/>
              </a:rPr>
              <a:t>0–1 sales iteration = higher conversion (64%); high iterations = 0% conversion</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Competition Impact</a:t>
            </a:r>
            <a:r>
              <a:rPr lang="en-US" sz="1800" dirty="0">
                <a:latin typeface="Lato" panose="020F0502020204030203" pitchFamily="34" charset="0"/>
                <a:ea typeface="Lato" panose="020F0502020204030203" pitchFamily="34" charset="0"/>
                <a:cs typeface="Lato" panose="020F0502020204030203" pitchFamily="34" charset="0"/>
              </a:rPr>
              <a:t>:</a:t>
            </a:r>
          </a:p>
          <a:p>
            <a:r>
              <a:rPr lang="en-US" sz="1800" dirty="0">
                <a:latin typeface="Lato" panose="020F0502020204030203" pitchFamily="34" charset="0"/>
                <a:ea typeface="Lato" panose="020F0502020204030203" pitchFamily="34" charset="0"/>
                <a:cs typeface="Lato" panose="020F0502020204030203" pitchFamily="34" charset="0"/>
              </a:rPr>
              <a:t>No known competitor = 32% conversion, known competitors = 19%</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2"/>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dirty="0">
                <a:solidFill>
                  <a:srgbClr val="EF413D"/>
                </a:solidFill>
              </a:rPr>
              <a:t>PART III B : Presenting Findings</a:t>
            </a:r>
            <a:br>
              <a:rPr lang="en-US" sz="3500" b="1" dirty="0">
                <a:solidFill>
                  <a:srgbClr val="EF413D"/>
                </a:solidFill>
              </a:rPr>
            </a:br>
            <a:r>
              <a:rPr lang="en-US" sz="1000" b="1" dirty="0">
                <a:solidFill>
                  <a:srgbClr val="EF413D"/>
                </a:solidFill>
              </a:rPr>
              <a:t> </a:t>
            </a:r>
            <a:br>
              <a:rPr lang="en-US" b="1" dirty="0"/>
            </a:br>
            <a:r>
              <a:rPr lang="en-US" sz="3000" dirty="0">
                <a:solidFill>
                  <a:srgbClr val="5A5A5A"/>
                </a:solidFill>
              </a:rPr>
              <a:t>Sales Pipeline Conversion at a SaaS Startup</a:t>
            </a:r>
            <a:endParaRPr sz="3000" dirty="0"/>
          </a:p>
        </p:txBody>
      </p:sp>
      <p:pic>
        <p:nvPicPr>
          <p:cNvPr id="21506" name="Picture 2">
            <a:extLst>
              <a:ext uri="{FF2B5EF4-FFF2-40B4-BE49-F238E27FC236}">
                <a16:creationId xmlns:a16="http://schemas.microsoft.com/office/drawing/2014/main" id="{243BC772-8A6A-7442-0480-8F35FCAA0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9316" y="234521"/>
            <a:ext cx="1524000" cy="7334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A39C56-6D7A-4314-AE0F-11D573489EE4}"/>
              </a:ext>
            </a:extLst>
          </p:cNvPr>
          <p:cNvSpPr txBox="1"/>
          <p:nvPr/>
        </p:nvSpPr>
        <p:spPr>
          <a:xfrm>
            <a:off x="1224741" y="1916084"/>
            <a:ext cx="9797935" cy="4278094"/>
          </a:xfrm>
          <a:prstGeom prst="rect">
            <a:avLst/>
          </a:prstGeom>
          <a:noFill/>
        </p:spPr>
        <p:txBody>
          <a:bodyPr wrap="square" rtlCol="0">
            <a:spAutoFit/>
          </a:bodyPr>
          <a:lstStyle/>
          <a:p>
            <a:r>
              <a:rPr lang="en-US" sz="1800" b="1" dirty="0">
                <a:latin typeface="Lato" panose="020F0502020204030203" pitchFamily="34" charset="0"/>
                <a:ea typeface="Lato" panose="020F0502020204030203" pitchFamily="34" charset="0"/>
                <a:cs typeface="Lato" panose="020F0502020204030203" pitchFamily="34" charset="0"/>
              </a:rPr>
              <a:t>Short Term Actions </a:t>
            </a:r>
            <a:r>
              <a:rPr lang="en-US" sz="1800" dirty="0">
                <a:latin typeface="Lato" panose="020F0502020204030203" pitchFamily="34" charset="0"/>
                <a:ea typeface="Lato" panose="020F0502020204030203" pitchFamily="34" charset="0"/>
                <a:cs typeface="Lato" panose="020F0502020204030203" pitchFamily="34" charset="0"/>
              </a:rPr>
              <a:t>(Quick Wins)</a:t>
            </a:r>
          </a:p>
          <a:p>
            <a:r>
              <a:rPr lang="en-US" sz="1800" dirty="0">
                <a:latin typeface="Lato" panose="020F0502020204030203" pitchFamily="34" charset="0"/>
                <a:ea typeface="Lato" panose="020F0502020204030203" pitchFamily="34" charset="0"/>
                <a:cs typeface="Lato" panose="020F0502020204030203" pitchFamily="34" charset="0"/>
              </a:rPr>
              <a:t>Target small past-business clients and small deal sizes actively.</a:t>
            </a:r>
          </a:p>
          <a:p>
            <a:r>
              <a:rPr lang="en-US" sz="1800" dirty="0">
                <a:latin typeface="Lato" panose="020F0502020204030203" pitchFamily="34" charset="0"/>
                <a:ea typeface="Lato" panose="020F0502020204030203" pitchFamily="34" charset="0"/>
                <a:cs typeface="Lato" panose="020F0502020204030203" pitchFamily="34" charset="0"/>
              </a:rPr>
              <a:t>Push ERP Implementation category while keeping Analytics in focus.</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Long-Term Actions</a:t>
            </a:r>
          </a:p>
          <a:p>
            <a:r>
              <a:rPr lang="en-US" sz="1800" dirty="0">
                <a:latin typeface="Lato" panose="020F0502020204030203" pitchFamily="34" charset="0"/>
                <a:ea typeface="Lato" panose="020F0502020204030203" pitchFamily="34" charset="0"/>
                <a:cs typeface="Lato" panose="020F0502020204030203" pitchFamily="34" charset="0"/>
              </a:rPr>
              <a:t>Train sales team to reduce unnecessary iterations.</a:t>
            </a:r>
          </a:p>
          <a:p>
            <a:r>
              <a:rPr lang="en-US" sz="1800" dirty="0">
                <a:latin typeface="Lato" panose="020F0502020204030203" pitchFamily="34" charset="0"/>
                <a:ea typeface="Lato" panose="020F0502020204030203" pitchFamily="34" charset="0"/>
                <a:cs typeface="Lato" panose="020F0502020204030203" pitchFamily="34" charset="0"/>
              </a:rPr>
              <a:t>Develop competitive positioning strategy for markets with strong rivals by updating the features or providing better pricing.</a:t>
            </a:r>
          </a:p>
          <a:p>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b="1" dirty="0">
                <a:latin typeface="Lato" panose="020F0502020204030203" pitchFamily="34" charset="0"/>
                <a:ea typeface="Lato" panose="020F0502020204030203" pitchFamily="34" charset="0"/>
                <a:cs typeface="Lato" panose="020F0502020204030203" pitchFamily="34" charset="0"/>
              </a:rPr>
              <a:t>Expected Impact</a:t>
            </a:r>
            <a:endParaRPr lang="en-US" sz="1800" dirty="0">
              <a:latin typeface="Lato" panose="020F0502020204030203" pitchFamily="34" charset="0"/>
              <a:ea typeface="Lato" panose="020F0502020204030203" pitchFamily="34" charset="0"/>
              <a:cs typeface="Lato" panose="020F0502020204030203" pitchFamily="34" charset="0"/>
            </a:endParaRPr>
          </a:p>
          <a:p>
            <a:r>
              <a:rPr lang="en-US" sz="1800" dirty="0">
                <a:latin typeface="Lato" panose="020F0502020204030203" pitchFamily="34" charset="0"/>
                <a:ea typeface="Lato" panose="020F0502020204030203" pitchFamily="34" charset="0"/>
                <a:cs typeface="Lato" panose="020F0502020204030203" pitchFamily="34" charset="0"/>
              </a:rPr>
              <a:t>Rise in conversion rate from </a:t>
            </a:r>
            <a:r>
              <a:rPr lang="en-US" sz="1800" b="1" dirty="0">
                <a:latin typeface="Lato" panose="020F0502020204030203" pitchFamily="34" charset="0"/>
                <a:ea typeface="Lato" panose="020F0502020204030203" pitchFamily="34" charset="0"/>
                <a:cs typeface="Lato" panose="020F0502020204030203" pitchFamily="34" charset="0"/>
              </a:rPr>
              <a:t>23% → 30%+</a:t>
            </a:r>
            <a:r>
              <a:rPr lang="en-US" sz="1800" dirty="0">
                <a:latin typeface="Lato" panose="020F0502020204030203" pitchFamily="34" charset="0"/>
                <a:ea typeface="Lato" panose="020F0502020204030203" pitchFamily="34" charset="0"/>
                <a:cs typeface="Lato" panose="020F0502020204030203" pitchFamily="34" charset="0"/>
              </a:rPr>
              <a:t> within next cycle.</a:t>
            </a:r>
          </a:p>
          <a:p>
            <a:endParaRPr lang="en-US" sz="1800" dirty="0">
              <a:latin typeface="Lato" panose="020F0502020204030203" pitchFamily="34" charset="0"/>
              <a:ea typeface="Lato" panose="020F0502020204030203" pitchFamily="34" charset="0"/>
              <a:cs typeface="Lato" panose="020F0502020204030203" pitchFamily="34" charset="0"/>
            </a:endParaRPr>
          </a:p>
          <a:p>
            <a:endParaRPr lang="en-US" dirty="0"/>
          </a:p>
          <a:p>
            <a:endParaRPr lang="en-US" dirty="0"/>
          </a:p>
          <a:p>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2496</TotalTime>
  <Words>2899</Words>
  <Application>Microsoft Office PowerPoint</Application>
  <PresentationFormat>Widescreen</PresentationFormat>
  <Paragraphs>409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Calibri</vt:lpstr>
      <vt:lpstr>Lato</vt:lpstr>
      <vt:lpstr>Arial</vt:lpstr>
      <vt:lpstr>Office Theme</vt:lpstr>
      <vt:lpstr>ASSIGNMENT GUIDELINES</vt:lpstr>
      <vt:lpstr>ASSIGNMENT   Name: Ridhima Atrey</vt:lpstr>
      <vt:lpstr>PART I : 1. Understanding the Problem   Sales Pipeline Conversion at a SaaS Startup</vt:lpstr>
      <vt:lpstr>PART I : 2. Understanding the Problem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B : Presenting Findings   Sales Pipeline Conversion at a SaaS Startup</vt:lpstr>
      <vt:lpstr>PART III B : Presenting Findings   Sales Pipeline Conversion at a SaaS Startup</vt:lpstr>
      <vt:lpstr>PART III B : Presenting Findings   Sales Pipeline Conversion at a SaaS Startup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GUIDELINES</dc:title>
  <dc:creator>RidhimaNew</dc:creator>
  <cp:lastModifiedBy>Ridhima Atrey</cp:lastModifiedBy>
  <cp:revision>72</cp:revision>
  <dcterms:modified xsi:type="dcterms:W3CDTF">2025-08-09T14:35:26Z</dcterms:modified>
</cp:coreProperties>
</file>